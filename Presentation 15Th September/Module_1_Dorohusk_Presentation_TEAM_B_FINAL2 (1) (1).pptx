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77" r:id="rId10"/>
    <p:sldId id="264" r:id="rId11"/>
    <p:sldId id="263" r:id="rId12"/>
    <p:sldId id="265" r:id="rId13"/>
    <p:sldId id="266" r:id="rId14"/>
    <p:sldId id="268" r:id="rId15"/>
    <p:sldId id="269" r:id="rId16"/>
    <p:sldId id="270" r:id="rId17"/>
    <p:sldId id="267" r:id="rId18"/>
    <p:sldId id="276" r:id="rId19"/>
    <p:sldId id="278" r:id="rId20"/>
    <p:sldId id="275" r:id="rId21"/>
    <p:sldId id="279" r:id="rId22"/>
    <p:sldId id="281" r:id="rId23"/>
    <p:sldId id="282" r:id="rId24"/>
    <p:sldId id="27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A46"/>
    <a:srgbClr val="DEFAEA"/>
    <a:srgbClr val="42D180"/>
    <a:srgbClr val="35AD6A"/>
    <a:srgbClr val="FFFFFF"/>
    <a:srgbClr val="51D58A"/>
    <a:srgbClr val="072C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665517-BB7B-4D09-0B57-C5E7E3416963}" v="159" dt="2026-08-31T00:08:11.605"/>
    <p1510:client id="{C3047ED8-0FC7-E16E-13D2-D906B7D5BB6B}" v="28" dt="2026-08-29T15:37:40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85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42D18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MODULE 1  ·  DOROHUSK CHECKPOINT CASE STUDY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UNIVERSAL LOGISTICS</a:t>
            </a:r>
            <a:endParaRPr lang="en-US" sz="4000">
              <a:latin typeface="Georgia" panose="02040502050405020303" pitchFamily="18" charset="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EDGE INFRASTRUCTURE</a:t>
            </a:r>
            <a:endParaRPr lang="en-US" sz="4000">
              <a:latin typeface="Georgia" panose="02040502050405020303" pitchFamily="18" charset="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400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457200" cy="45720"/>
          </a:xfrm>
          <a:prstGeom prst="rect">
            <a:avLst/>
          </a:prstGeom>
          <a:solidFill>
            <a:srgbClr val="42D1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1605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Conceptual Digital Twin &amp; Decision-Support Simulation</a:t>
            </a:r>
            <a:endParaRPr lang="en-US" sz="1550">
              <a:latin typeface="Georgia" panose="02040502050405020303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5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for Cross-Border Corridors</a:t>
            </a:r>
            <a:endParaRPr lang="en-US" sz="155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5166360"/>
            <a:ext cx="15034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US" sz="15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100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sz="1100">
                <a:solidFill>
                  <a:srgbClr val="BFF3D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15th September</a:t>
            </a:r>
            <a:endParaRPr lang="en-US" sz="10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DEFAEA"/>
            </a:gs>
            <a:gs pos="17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8E6CD4B3-BD39-4CCD-96DF-CB0ED309C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432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-27432"/>
            <a:ext cx="3657600" cy="6885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82600" y="8641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2D18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072C19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800">
              <a:solidFill>
                <a:srgbClr val="072C19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922780"/>
            <a:ext cx="28803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Twelve sections tracing the case for a decision-support Digital Twin at the Dorohusk corridor — from the problem, through architecture and economics, to risk.</a:t>
            </a:r>
            <a:endParaRPr lang="en-US" sz="125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160520" y="731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37760" y="7863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Executive Vision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160520" y="148132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1691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7760" y="17465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60520" y="244144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0520" y="2651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37760" y="27066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 Friction Math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60520" y="340156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6052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937760" y="36667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Beneficiaries &amp; Value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160520" y="436168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60520" y="45720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937760" y="46268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3-Gate Digital Twin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160520" y="532180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60520" y="5532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37760" y="5586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909560" y="731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686800" y="7863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Environmental Math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909560" y="148132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9560" y="1691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686800" y="17465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Stakeholder Canvas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909560" y="244144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09560" y="2651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686800" y="27066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Revenue Phasing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909560" y="340156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0956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686800" y="36667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Unit Economics</a:t>
            </a:r>
          </a:p>
        </p:txBody>
      </p:sp>
      <p:sp>
        <p:nvSpPr>
          <p:cNvPr id="36" name="Shape 33"/>
          <p:cNvSpPr/>
          <p:nvPr/>
        </p:nvSpPr>
        <p:spPr>
          <a:xfrm>
            <a:off x="7909560" y="436168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09560" y="45720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686800" y="46268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Risk Matrix &amp; SWOT Analysis</a:t>
            </a:r>
            <a:endParaRPr lang="en-US" sz="1300">
              <a:latin typeface="Georgia"/>
              <a:ea typeface="Calibri"/>
              <a:cs typeface="Calibri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7909560" y="5321808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09560" y="5532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686800" y="5586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6" name="Shape 36">
            <a:extLst>
              <a:ext uri="{FF2B5EF4-FFF2-40B4-BE49-F238E27FC236}">
                <a16:creationId xmlns:a16="http://schemas.microsoft.com/office/drawing/2014/main" id="{0F279FEB-9605-1137-C959-A702E5764B67}"/>
              </a:ext>
            </a:extLst>
          </p:cNvPr>
          <p:cNvSpPr/>
          <p:nvPr/>
        </p:nvSpPr>
        <p:spPr>
          <a:xfrm>
            <a:off x="7897067" y="6133774"/>
            <a:ext cx="342900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7" name="Text 37">
            <a:extLst>
              <a:ext uri="{FF2B5EF4-FFF2-40B4-BE49-F238E27FC236}">
                <a16:creationId xmlns:a16="http://schemas.microsoft.com/office/drawing/2014/main" id="{99054A08-55F1-DF79-8926-269FC6B9199B}"/>
              </a:ext>
            </a:extLst>
          </p:cNvPr>
          <p:cNvSpPr/>
          <p:nvPr/>
        </p:nvSpPr>
        <p:spPr>
          <a:xfrm>
            <a:off x="7934543" y="6206677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CBB6B"/>
                </a:solidFill>
                <a:latin typeface="Georgia"/>
                <a:cs typeface="Arial"/>
              </a:rPr>
              <a:t>13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8F399356-4939-2ABC-3736-C4AB49DDF5BE}"/>
              </a:ext>
            </a:extLst>
          </p:cNvPr>
          <p:cNvSpPr/>
          <p:nvPr/>
        </p:nvSpPr>
        <p:spPr>
          <a:xfrm>
            <a:off x="8686799" y="634898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Audited Project Finance &amp; Returns Profile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01 — EXECUTIVE VISION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 Conceptual Digital Twin for the</a:t>
            </a:r>
            <a:endParaRPr lang="en-US" sz="28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Dorohusk Express Corridor</a:t>
            </a:r>
            <a:endParaRPr lang="en-US" sz="28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03531" y="189926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Module 1 assesses feasibility, throughput velocity, and environmental sustainability before any capital-intensive deployment.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07720" y="26791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Asset-Light Software Overlay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000" y="296265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Integrates existing OCR cameras, RFID scanners and Weigh-in-Motion scales into a single, stateless JSON payload.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07720" y="365194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Governance via Open Protocols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43000" y="407648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Model Context Protocol (MCP) plugs AI decision tools into live telemetry schemas without risking database state or privacy.</a:t>
            </a:r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Sub-500ms API decision SLA (Edge microservice &lt;10ms execution).</a:t>
            </a:r>
            <a:endParaRPr lang="en-US" sz="1200" dirty="0">
              <a:solidFill>
                <a:srgbClr val="5B7566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07720" y="482982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Core Value Delivered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181100" y="5217547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Converts high-variance manual queue delay into a sub-30-second automated express clearance pass — zero civil-infrastructure </a:t>
            </a:r>
            <a:r>
              <a:rPr lang="en-US" sz="1200" dirty="0" err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CapEx</a:t>
            </a:r>
            <a:r>
              <a:rPr lang="en-US" sz="120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02920" y="6172200"/>
            <a:ext cx="6858000" cy="0"/>
          </a:xfrm>
          <a:prstGeom prst="roundRect">
            <a:avLst/>
          </a:prstGeom>
          <a:noFill/>
          <a:ln/>
        </p:spPr>
      </p:sp>
      <p:sp>
        <p:nvSpPr>
          <p:cNvPr id="18" name="Shape 13"/>
          <p:cNvSpPr/>
          <p:nvPr/>
        </p:nvSpPr>
        <p:spPr>
          <a:xfrm>
            <a:off x="7772400" y="868680"/>
            <a:ext cx="3913632" cy="5074920"/>
          </a:xfrm>
          <a:prstGeom prst="roundRect">
            <a:avLst>
              <a:gd name="adj" fmla="val 1869"/>
            </a:avLst>
          </a:prstGeom>
          <a:solidFill>
            <a:srgbClr val="072C19"/>
          </a:solidFill>
          <a:ln/>
        </p:spPr>
      </p:sp>
      <p:sp>
        <p:nvSpPr>
          <p:cNvPr id="19" name="Text 14"/>
          <p:cNvSpPr/>
          <p:nvPr/>
        </p:nvSpPr>
        <p:spPr>
          <a:xfrm>
            <a:off x="80924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EXPRESS CLEARANCE </a:t>
            </a:r>
            <a:r>
              <a:rPr lang="en-US" sz="1100" b="1" kern="0" spc="15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092440" y="1508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42D180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&lt;30</a:t>
            </a:r>
            <a:endParaRPr lang="en-US" sz="7200">
              <a:latin typeface="Georgia" panose="02040502050405020303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0924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SECONDS</a:t>
            </a:r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092440" y="3200400"/>
            <a:ext cx="3246120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92440" y="3383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EXPLICIT</a:t>
            </a:r>
            <a:r>
              <a:rPr lang="en-US" sz="1100" b="1" kern="0" spc="150" dirty="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15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1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107680" y="3721608"/>
            <a:ext cx="226219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DEFAEA"/>
                </a:solidFill>
                <a:latin typeface="Georgia" panose="02040502050405020303" pitchFamily="18" charset="0"/>
                <a:ea typeface="Calibri"/>
                <a:cs typeface="Calibri"/>
              </a:rPr>
              <a:t>This </a:t>
            </a:r>
            <a:r>
              <a:rPr lang="en-US" sz="1400" dirty="0">
                <a:solidFill>
                  <a:srgbClr val="DEFAEA"/>
                </a:solidFill>
                <a:latin typeface="Georgia" panose="02040502050405020303" pitchFamily="18" charset="0"/>
                <a:ea typeface="+mn-lt"/>
                <a:cs typeface="+mn-lt"/>
              </a:rPr>
              <a:t>module is an </a:t>
            </a:r>
            <a:r>
              <a:rPr lang="en-US" sz="1400" b="1" dirty="0">
                <a:solidFill>
                  <a:srgbClr val="DEFAEA"/>
                </a:solidFill>
                <a:latin typeface="Georgia" panose="02040502050405020303" pitchFamily="18" charset="0"/>
                <a:ea typeface="+mn-lt"/>
                <a:cs typeface="+mn-lt"/>
              </a:rPr>
              <a:t>asset-light software simulation overlay</a:t>
            </a:r>
            <a:r>
              <a:rPr lang="en-US" sz="1400" dirty="0">
                <a:solidFill>
                  <a:srgbClr val="DEFAEA"/>
                </a:solidFill>
                <a:latin typeface="Georgia" panose="02040502050405020303" pitchFamily="18" charset="0"/>
                <a:ea typeface="+mn-lt"/>
                <a:cs typeface="+mn-lt"/>
              </a:rPr>
              <a:t> requiring </a:t>
            </a:r>
            <a:r>
              <a:rPr lang="en-US" sz="1400" b="1" dirty="0">
                <a:solidFill>
                  <a:srgbClr val="DEFAEA"/>
                </a:solidFill>
                <a:latin typeface="Georgia" panose="02040502050405020303" pitchFamily="18" charset="0"/>
                <a:ea typeface="+mn-lt"/>
                <a:cs typeface="+mn-lt"/>
              </a:rPr>
              <a:t>€0 civil-infrastructure </a:t>
            </a:r>
            <a:r>
              <a:rPr lang="en-US" sz="1400" b="1" dirty="0" err="1">
                <a:solidFill>
                  <a:srgbClr val="DEFAEA"/>
                </a:solidFill>
                <a:latin typeface="Georgia" panose="02040502050405020303" pitchFamily="18" charset="0"/>
                <a:ea typeface="+mn-lt"/>
                <a:cs typeface="+mn-lt"/>
              </a:rPr>
              <a:t>CapEx</a:t>
            </a:r>
            <a:r>
              <a:rPr lang="en-US" sz="1400" dirty="0">
                <a:solidFill>
                  <a:srgbClr val="DEFAEA"/>
                </a:solidFill>
                <a:latin typeface="Georgia" panose="02040502050405020303" pitchFamily="18" charset="0"/>
                <a:ea typeface="+mn-lt"/>
                <a:cs typeface="+mn-lt"/>
              </a:rPr>
              <a:t> from sovereign authorities.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EXECUTIVE VISION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>
              <a:latin typeface="Georgia" panose="02040502050405020303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153D1C-1DB4-4B98-BDAD-0560CCD259EE}"/>
              </a:ext>
            </a:extLst>
          </p:cNvPr>
          <p:cNvGrpSpPr/>
          <p:nvPr/>
        </p:nvGrpSpPr>
        <p:grpSpPr>
          <a:xfrm>
            <a:off x="560069" y="2697479"/>
            <a:ext cx="129541" cy="292585"/>
            <a:chOff x="560069" y="2697479"/>
            <a:chExt cx="129541" cy="292585"/>
          </a:xfrm>
        </p:grpSpPr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7B7C6D11-9DC9-44C5-89B8-30DDDCF54EEC}"/>
                </a:ext>
              </a:extLst>
            </p:cNvPr>
            <p:cNvSpPr/>
            <p:nvPr/>
          </p:nvSpPr>
          <p:spPr>
            <a:xfrm>
              <a:off x="560070" y="2697479"/>
              <a:ext cx="129540" cy="292585"/>
            </a:xfrm>
            <a:prstGeom prst="diamond">
              <a:avLst/>
            </a:prstGeom>
            <a:solidFill>
              <a:srgbClr val="1B7A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7" name="Diamond 26">
              <a:extLst>
                <a:ext uri="{FF2B5EF4-FFF2-40B4-BE49-F238E27FC236}">
                  <a16:creationId xmlns:a16="http://schemas.microsoft.com/office/drawing/2014/main" id="{07F24269-6243-43D0-845B-5057B3BADA71}"/>
                </a:ext>
              </a:extLst>
            </p:cNvPr>
            <p:cNvSpPr/>
            <p:nvPr/>
          </p:nvSpPr>
          <p:spPr>
            <a:xfrm>
              <a:off x="560069" y="2697479"/>
              <a:ext cx="129541" cy="220977"/>
            </a:xfrm>
            <a:prstGeom prst="diamond">
              <a:avLst/>
            </a:prstGeom>
            <a:solidFill>
              <a:srgbClr val="51D5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8" name="Diamond 27">
              <a:extLst>
                <a:ext uri="{FF2B5EF4-FFF2-40B4-BE49-F238E27FC236}">
                  <a16:creationId xmlns:a16="http://schemas.microsoft.com/office/drawing/2014/main" id="{07E9D903-8F63-43D3-9592-C2575522BD5D}"/>
                </a:ext>
              </a:extLst>
            </p:cNvPr>
            <p:cNvSpPr/>
            <p:nvPr/>
          </p:nvSpPr>
          <p:spPr>
            <a:xfrm>
              <a:off x="596649" y="2750817"/>
              <a:ext cx="57911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5F0A2A-50F4-4CAF-931D-7E9FC230ADAD}"/>
              </a:ext>
            </a:extLst>
          </p:cNvPr>
          <p:cNvGrpSpPr/>
          <p:nvPr/>
        </p:nvGrpSpPr>
        <p:grpSpPr>
          <a:xfrm>
            <a:off x="563121" y="4800601"/>
            <a:ext cx="129541" cy="292585"/>
            <a:chOff x="560069" y="2697479"/>
            <a:chExt cx="129541" cy="292585"/>
          </a:xfrm>
        </p:grpSpPr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BFCAC8BC-29ED-49D5-A525-3C83B544563E}"/>
                </a:ext>
              </a:extLst>
            </p:cNvPr>
            <p:cNvSpPr/>
            <p:nvPr/>
          </p:nvSpPr>
          <p:spPr>
            <a:xfrm>
              <a:off x="560070" y="2697479"/>
              <a:ext cx="129540" cy="292585"/>
            </a:xfrm>
            <a:prstGeom prst="diamond">
              <a:avLst/>
            </a:prstGeom>
            <a:solidFill>
              <a:srgbClr val="1B7A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80781F05-21DF-4DA4-900A-6F2282FBF7F3}"/>
                </a:ext>
              </a:extLst>
            </p:cNvPr>
            <p:cNvSpPr/>
            <p:nvPr/>
          </p:nvSpPr>
          <p:spPr>
            <a:xfrm>
              <a:off x="560069" y="2697479"/>
              <a:ext cx="129541" cy="220977"/>
            </a:xfrm>
            <a:prstGeom prst="diamond">
              <a:avLst/>
            </a:prstGeom>
            <a:solidFill>
              <a:srgbClr val="51D5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2" name="Diamond 31">
              <a:extLst>
                <a:ext uri="{FF2B5EF4-FFF2-40B4-BE49-F238E27FC236}">
                  <a16:creationId xmlns:a16="http://schemas.microsoft.com/office/drawing/2014/main" id="{694E2D63-0534-41BA-9D91-DA712E168804}"/>
                </a:ext>
              </a:extLst>
            </p:cNvPr>
            <p:cNvSpPr/>
            <p:nvPr/>
          </p:nvSpPr>
          <p:spPr>
            <a:xfrm>
              <a:off x="596649" y="2750817"/>
              <a:ext cx="57911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349417-F997-416B-9251-7A3683749E27}"/>
              </a:ext>
            </a:extLst>
          </p:cNvPr>
          <p:cNvGrpSpPr/>
          <p:nvPr/>
        </p:nvGrpSpPr>
        <p:grpSpPr>
          <a:xfrm>
            <a:off x="563121" y="3670437"/>
            <a:ext cx="129541" cy="292585"/>
            <a:chOff x="560069" y="2697479"/>
            <a:chExt cx="129541" cy="292585"/>
          </a:xfrm>
        </p:grpSpPr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1155DDAA-B729-40F5-8B43-7AB7097584BD}"/>
                </a:ext>
              </a:extLst>
            </p:cNvPr>
            <p:cNvSpPr/>
            <p:nvPr/>
          </p:nvSpPr>
          <p:spPr>
            <a:xfrm>
              <a:off x="560070" y="2697479"/>
              <a:ext cx="129540" cy="292585"/>
            </a:xfrm>
            <a:prstGeom prst="diamond">
              <a:avLst/>
            </a:prstGeom>
            <a:solidFill>
              <a:srgbClr val="1B7A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5" name="Diamond 34">
              <a:extLst>
                <a:ext uri="{FF2B5EF4-FFF2-40B4-BE49-F238E27FC236}">
                  <a16:creationId xmlns:a16="http://schemas.microsoft.com/office/drawing/2014/main" id="{E8590586-DE67-43DE-8EA2-91DE03229E5A}"/>
                </a:ext>
              </a:extLst>
            </p:cNvPr>
            <p:cNvSpPr/>
            <p:nvPr/>
          </p:nvSpPr>
          <p:spPr>
            <a:xfrm>
              <a:off x="560069" y="2697479"/>
              <a:ext cx="129541" cy="220977"/>
            </a:xfrm>
            <a:prstGeom prst="diamond">
              <a:avLst/>
            </a:prstGeom>
            <a:solidFill>
              <a:srgbClr val="51D5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6" name="Diamond 35">
              <a:extLst>
                <a:ext uri="{FF2B5EF4-FFF2-40B4-BE49-F238E27FC236}">
                  <a16:creationId xmlns:a16="http://schemas.microsoft.com/office/drawing/2014/main" id="{5719A3B3-5C10-4A20-9033-22740C156C9A}"/>
                </a:ext>
              </a:extLst>
            </p:cNvPr>
            <p:cNvSpPr/>
            <p:nvPr/>
          </p:nvSpPr>
          <p:spPr>
            <a:xfrm>
              <a:off x="596649" y="2750817"/>
              <a:ext cx="57911" cy="114300"/>
            </a:xfrm>
            <a:prstGeom prst="diamond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100000">
              <a:srgbClr val="DEFAEA"/>
            </a:gs>
            <a:gs pos="17000">
              <a:srgbClr val="42D180"/>
            </a:gs>
            <a:gs pos="50000">
              <a:srgbClr val="DEFAEA"/>
            </a:gs>
            <a:gs pos="0">
              <a:srgbClr val="072C19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02 — CORE PROBLEM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Corridor Gridlock at the</a:t>
            </a:r>
            <a:endParaRPr lang="en-US" sz="28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Dorohusk Checkpoint</a:t>
            </a:r>
            <a:endParaRPr lang="en-US" sz="28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Why the EU–Ukraine freight corridor demands immediate digital decision support.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2590724" cy="187452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8394" y="2742503"/>
            <a:ext cx="141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7A4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1,200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7512" y="3364992"/>
            <a:ext cx="226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HGVS / DAY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" y="3840480"/>
            <a:ext cx="2261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≈ 438,000 trucks per year through </a:t>
            </a:r>
            <a:r>
              <a:rPr lang="en-US" sz="950" dirty="0" err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Dorohusk</a:t>
            </a:r>
            <a:r>
              <a:rPr lang="en-US" sz="95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950" dirty="0" err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Yagodin</a:t>
            </a:r>
            <a:endParaRPr lang="en-US" sz="95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67964" y="2606040"/>
            <a:ext cx="2590724" cy="187452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2556" y="2761488"/>
            <a:ext cx="226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7A46"/>
                </a:solidFill>
                <a:latin typeface="Georgia"/>
                <a:ea typeface="Arial" pitchFamily="34" charset="-122"/>
                <a:cs typeface="Arial"/>
              </a:rPr>
              <a:t>20.5</a:t>
            </a:r>
            <a:r>
              <a:rPr lang="en-US" sz="2700" b="1" dirty="0">
                <a:solidFill>
                  <a:srgbClr val="1B7A46"/>
                </a:solidFill>
                <a:latin typeface="Georgia"/>
                <a:ea typeface="Arial" pitchFamily="34" charset="-122"/>
                <a:cs typeface="Arial"/>
              </a:rPr>
              <a:t> </a:t>
            </a:r>
            <a:r>
              <a:rPr lang="en-US" sz="2700" b="1" dirty="0" err="1">
                <a:solidFill>
                  <a:srgbClr val="1B7A46"/>
                </a:solidFill>
                <a:latin typeface="Georgia"/>
                <a:ea typeface="Arial" pitchFamily="34" charset="-122"/>
                <a:cs typeface="Arial"/>
              </a:rPr>
              <a:t>hrs</a:t>
            </a:r>
            <a:endParaRPr lang="en-US" sz="2700" dirty="0">
              <a:latin typeface="Georgia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32556" y="3364992"/>
            <a:ext cx="226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b="1" kern="0" spc="50" dirty="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BASELINE CORRIDOR LATENCY</a:t>
            </a:r>
            <a:endParaRPr lang="en-US" sz="1050" dirty="0">
              <a:latin typeface="Georgia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32556" y="3840480"/>
            <a:ext cx="2261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Severe driver duty exhaustion &amp; logistics paralysis</a:t>
            </a:r>
            <a:endParaRPr lang="en-US" sz="950" dirty="0">
              <a:solidFill>
                <a:srgbClr val="000000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4999"/>
              </a:lnSpc>
            </a:pPr>
            <a:endParaRPr lang="en-US" sz="950" dirty="0">
              <a:solidFill>
                <a:srgbClr val="5B756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33008" y="2606040"/>
            <a:ext cx="2590724" cy="187452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7600" y="2761488"/>
            <a:ext cx="226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7A4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35</a:t>
            </a:r>
            <a:r>
              <a:rPr lang="en-US" sz="2700" b="1" dirty="0">
                <a:solidFill>
                  <a:srgbClr val="1B7A4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%+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97600" y="3424428"/>
            <a:ext cx="226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COLD-CHAIN CARGO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97600" y="3840480"/>
            <a:ext cx="2261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Agri-food &amp; pharma requiring continuous refrigeration</a:t>
            </a:r>
            <a:endParaRPr lang="en-US" sz="950" dirty="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98051" y="2606040"/>
            <a:ext cx="2590724" cy="187452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643" y="2761488"/>
            <a:ext cx="2261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7A4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2.50</a:t>
            </a:r>
            <a:r>
              <a:rPr lang="en-US" sz="2700" b="1" dirty="0">
                <a:solidFill>
                  <a:srgbClr val="1B7A4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 L/</a:t>
            </a:r>
            <a:r>
              <a:rPr lang="en-US" sz="2700" b="1" dirty="0" err="1">
                <a:solidFill>
                  <a:srgbClr val="1B7A46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hr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62643" y="3460750"/>
            <a:ext cx="226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REEFER DIESEL BURN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62643" y="3840480"/>
            <a:ext cx="2261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Auxiliary cooling runs continuously during queue holds</a:t>
            </a:r>
            <a:endParaRPr lang="en-US" sz="950" dirty="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11185855" cy="923544"/>
          </a:xfrm>
          <a:prstGeom prst="roundRect">
            <a:avLst>
              <a:gd name="adj" fmla="val 5185"/>
            </a:avLst>
          </a:prstGeom>
          <a:solidFill>
            <a:srgbClr val="1B7A46"/>
          </a:solidFill>
          <a:ln/>
        </p:spPr>
      </p:sp>
      <p:sp>
        <p:nvSpPr>
          <p:cNvPr id="24" name="Text 21"/>
          <p:cNvSpPr/>
          <p:nvPr/>
        </p:nvSpPr>
        <p:spPr>
          <a:xfrm>
            <a:off x="667512" y="4892040"/>
            <a:ext cx="107012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Severe localized environmental impact  </a:t>
            </a:r>
            <a:r>
              <a:rPr lang="en-US" sz="1400" dirty="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— stationary engines and reefer units generate high PM2.5, PM10 and NOx concentrations, degrading air quality for adjacent border communities. Each liter of </a:t>
            </a:r>
            <a:r>
              <a:rPr lang="en-US" sz="1400" dirty="0" err="1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uncombusted</a:t>
            </a:r>
            <a:r>
              <a:rPr lang="en-US" sz="1400" dirty="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diesel emits </a:t>
            </a: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2.68 kg CO₂.</a:t>
            </a:r>
            <a:endParaRPr lang="en-US" sz="1400" dirty="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E825CD-9DFA-0F9F-94C7-33CFE8776A4E}"/>
              </a:ext>
            </a:extLst>
          </p:cNvPr>
          <p:cNvSpPr txBox="1"/>
          <p:nvPr/>
        </p:nvSpPr>
        <p:spPr>
          <a:xfrm>
            <a:off x="502920" y="5988623"/>
            <a:ext cx="55355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 dirty="0"/>
              <a:t>(Peak crisis spikes reach 42+ </a:t>
            </a:r>
            <a:r>
              <a:rPr lang="en-US" sz="1100" i="1" dirty="0" err="1"/>
              <a:t>hrs</a:t>
            </a:r>
            <a:r>
              <a:rPr lang="en-US" sz="1100" i="1" dirty="0"/>
              <a:t> during blockades; 20.5 </a:t>
            </a:r>
            <a:r>
              <a:rPr lang="en-US" sz="1100" i="1" dirty="0" err="1"/>
              <a:t>hrs</a:t>
            </a:r>
            <a:r>
              <a:rPr lang="en-US" sz="1100" i="1" dirty="0"/>
              <a:t> represents the audited, 365-day year-round operating baseline: 14.5h staging + 3.5h customs + 2.5h phytosanitary inspection)</a:t>
            </a:r>
            <a:r>
              <a:rPr lang="en-US" sz="1100" dirty="0"/>
              <a:t>. </a:t>
            </a:r>
            <a:endParaRPr lang="en-US" sz="1100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2D18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03 — THE FRICTION MATH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Quantifying Operational</a:t>
            </a:r>
            <a:endParaRPr lang="en-US" sz="28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&amp; Carbon Losses</a:t>
            </a:r>
            <a:endParaRPr lang="en-US" sz="28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BFF3D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Translating gate latency into audit-ready financial &amp; ESG penalties.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2881" y="2551683"/>
            <a:ext cx="549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UNIFIED COST-ALLOCATION FORMULA</a:t>
            </a:r>
            <a:endParaRPr lang="en-US" sz="1600" dirty="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Operational delay costs  </a:t>
            </a:r>
            <a:r>
              <a:rPr lang="en-US" sz="115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— hours lost × (driver wages + vehicle depreciation + diesel burn)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5125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Carbon penalty  </a:t>
            </a:r>
            <a:r>
              <a:rPr lang="en-US" sz="115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— tonnes released × €80/tonne EU ETS carbon index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25512" y="746904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1B7A46"/>
          </a:solidFill>
          <a:ln/>
        </p:spPr>
      </p:sp>
      <p:sp>
        <p:nvSpPr>
          <p:cNvPr id="11" name="Text 9"/>
          <p:cNvSpPr/>
          <p:nvPr/>
        </p:nvSpPr>
        <p:spPr>
          <a:xfrm>
            <a:off x="7799832" y="88434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50" b="1" kern="0" spc="50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SINGLE-TRUCK LOSS BENCHMARK (20.0 HRS BASELINE DELAY SAVED)</a:t>
            </a:r>
            <a:endParaRPr lang="en-US" sz="1050" dirty="0">
              <a:latin typeface="Georgia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98044" y="142719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600" b="1" dirty="0">
                <a:solidFill>
                  <a:srgbClr val="FFFFFF"/>
                </a:solidFill>
                <a:latin typeface="Georgia"/>
                <a:ea typeface="Arial" pitchFamily="34" charset="-122"/>
                <a:cs typeface="Arial"/>
              </a:rPr>
              <a:t>€ </a:t>
            </a:r>
            <a:r>
              <a:rPr lang="en-US" sz="4600" b="1" dirty="0">
                <a:solidFill>
                  <a:srgbClr val="FFFFFF"/>
                </a:solidFill>
                <a:latin typeface="Georgia"/>
                <a:cs typeface="Arial"/>
              </a:rPr>
              <a:t>665</a:t>
            </a:r>
            <a:r>
              <a:rPr lang="en-US" sz="4600" b="1" dirty="0">
                <a:solidFill>
                  <a:srgbClr val="FFFFFF"/>
                </a:solidFill>
                <a:latin typeface="Georgia"/>
                <a:ea typeface="Arial" pitchFamily="34" charset="-122"/>
                <a:cs typeface="Arial"/>
              </a:rPr>
              <a:t>.22</a:t>
            </a:r>
            <a:endParaRPr lang="en-US" sz="46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99832" y="23957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1FCF5"/>
                </a:solidFill>
                <a:latin typeface="Georgia"/>
                <a:ea typeface="Calibri"/>
                <a:cs typeface="Calibri"/>
              </a:rPr>
              <a:t>€654.50 </a:t>
            </a:r>
            <a:r>
              <a:rPr lang="en-US" sz="1150" dirty="0">
                <a:solidFill>
                  <a:srgbClr val="F1FCF5"/>
                </a:solidFill>
                <a:latin typeface="Georgia"/>
                <a:ea typeface="Calibri"/>
                <a:cs typeface="Calibri"/>
              </a:rPr>
              <a:t>direct operational cash  +  €10.72 in carbon penalties</a:t>
            </a:r>
            <a:endParaRPr lang="en-US" sz="1150" dirty="0">
              <a:latin typeface="Georgia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25512" y="3216062"/>
            <a:ext cx="4160520" cy="2359152"/>
          </a:xfrm>
          <a:prstGeom prst="roundRect">
            <a:avLst>
              <a:gd name="adj" fmla="val 3101"/>
            </a:avLst>
          </a:prstGeom>
          <a:solidFill>
            <a:srgbClr val="42D180"/>
          </a:solidFill>
          <a:ln/>
        </p:spPr>
      </p:sp>
      <p:sp>
        <p:nvSpPr>
          <p:cNvPr id="15" name="Text 13"/>
          <p:cNvSpPr/>
          <p:nvPr/>
        </p:nvSpPr>
        <p:spPr>
          <a:xfrm>
            <a:off x="7799832" y="33421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72C19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CORRIDOR-WIDE ANNUAL PENALTY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18120" y="3838999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72C19"/>
                </a:solidFill>
                <a:latin typeface="Georgia"/>
                <a:ea typeface="Arial" pitchFamily="34" charset="-122"/>
                <a:cs typeface="Arial"/>
              </a:rPr>
              <a:t>€290M+</a:t>
            </a:r>
            <a:endParaRPr lang="en-US" sz="4600" dirty="0">
              <a:latin typeface="Georgia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18120" y="5231087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072C19"/>
                </a:solidFill>
                <a:latin typeface="Georgia"/>
                <a:ea typeface="Calibri"/>
                <a:cs typeface="Calibri"/>
              </a:rPr>
              <a:t>annual operational &amp; environmental friction loss baseline across </a:t>
            </a:r>
            <a:r>
              <a:rPr lang="en-US" sz="1150" err="1">
                <a:solidFill>
                  <a:srgbClr val="072C19"/>
                </a:solidFill>
                <a:latin typeface="Georgia"/>
                <a:ea typeface="Calibri"/>
                <a:cs typeface="Calibri"/>
              </a:rPr>
              <a:t>Dorohusk</a:t>
            </a:r>
            <a:r>
              <a:rPr lang="en-US" sz="1150">
                <a:solidFill>
                  <a:srgbClr val="072C19"/>
                </a:solidFill>
                <a:latin typeface="Georgia"/>
                <a:ea typeface="Calibri"/>
                <a:cs typeface="Calibri"/>
              </a:rPr>
              <a:t>–</a:t>
            </a:r>
            <a:r>
              <a:rPr lang="en-US" sz="1150" err="1">
                <a:solidFill>
                  <a:srgbClr val="072C19"/>
                </a:solidFill>
                <a:latin typeface="Georgia"/>
                <a:ea typeface="Calibri"/>
                <a:cs typeface="Calibri"/>
              </a:rPr>
              <a:t>Yagodin</a:t>
            </a:r>
            <a:r>
              <a:rPr lang="en-US" sz="1150">
                <a:solidFill>
                  <a:srgbClr val="072C19"/>
                </a:solidFill>
                <a:latin typeface="Georgia"/>
                <a:ea typeface="Calibri"/>
                <a:cs typeface="Calibri"/>
              </a:rPr>
              <a:t>.</a:t>
            </a:r>
          </a:p>
          <a:p>
            <a:pPr>
              <a:lnSpc>
                <a:spcPct val="120000"/>
              </a:lnSpc>
            </a:pPr>
            <a:endParaRPr lang="en-US" sz="1150">
              <a:solidFill>
                <a:srgbClr val="072C19"/>
              </a:solidFill>
              <a:latin typeface="Georgia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150" i="1">
                <a:solidFill>
                  <a:srgbClr val="072C19"/>
                </a:solidFill>
                <a:ea typeface="+mn-lt"/>
                <a:cs typeface="+mn-lt"/>
              </a:rPr>
              <a:t>(Calculated at 438,000 annual HGV transits under 20.5-hour uncoordinated queue conditions; peak blockade spikes elevate losses to €600M+)</a:t>
            </a:r>
            <a:r>
              <a:rPr lang="en-US" sz="1150">
                <a:solidFill>
                  <a:srgbClr val="072C19"/>
                </a:solidFill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0001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 FRICTION MATH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>
              <a:latin typeface="Georgia" panose="02040502050405020303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75BADD9-B1B7-49B1-89EE-190D1B01D0E3}"/>
              </a:ext>
            </a:extLst>
          </p:cNvPr>
          <p:cNvGrpSpPr/>
          <p:nvPr/>
        </p:nvGrpSpPr>
        <p:grpSpPr>
          <a:xfrm>
            <a:off x="432881" y="3098309"/>
            <a:ext cx="6035040" cy="772126"/>
            <a:chOff x="679440" y="3101340"/>
            <a:chExt cx="4890780" cy="644996"/>
          </a:xfrm>
          <a:effectLst>
            <a:glow rad="101600">
              <a:srgbClr val="42D180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00E492A-634D-4192-8637-C1EDF5AAA3C2}"/>
                </a:ext>
              </a:extLst>
            </p:cNvPr>
            <p:cNvSpPr/>
            <p:nvPr/>
          </p:nvSpPr>
          <p:spPr>
            <a:xfrm>
              <a:off x="679440" y="3101340"/>
              <a:ext cx="4890780" cy="64499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9BD0F13-0DBB-4453-9F5D-01FA23B63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8940" y="3157038"/>
              <a:ext cx="4747219" cy="538499"/>
            </a:xfrm>
            <a:prstGeom prst="rect">
              <a:avLst/>
            </a:prstGeom>
          </p:spPr>
        </p:pic>
      </p:grpSp>
      <p:sp>
        <p:nvSpPr>
          <p:cNvPr id="5" name="Text 7">
            <a:extLst>
              <a:ext uri="{FF2B5EF4-FFF2-40B4-BE49-F238E27FC236}">
                <a16:creationId xmlns:a16="http://schemas.microsoft.com/office/drawing/2014/main" id="{BBF64039-42CA-AD93-570C-FF51EA889556}"/>
              </a:ext>
            </a:extLst>
          </p:cNvPr>
          <p:cNvSpPr/>
          <p:nvPr/>
        </p:nvSpPr>
        <p:spPr>
          <a:xfrm>
            <a:off x="515620" y="4719319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CO2 Factor </a:t>
            </a:r>
            <a:r>
              <a:rPr lang="en-US" sz="115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— 2.68 kg CO₂ / Liter (EEA / DEFRA EN 590 standard)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9B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04 — BENEFICIARIES &amp; VALUE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Defining Users, Customers</a:t>
            </a:r>
            <a:endParaRPr lang="en-US" sz="28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&amp; Beneficiaries</a:t>
            </a:r>
            <a:endParaRPr lang="en-US" sz="28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Direct value mapping across public, commercial and local ecosystems.</a:t>
            </a:r>
            <a:endParaRPr lang="en-US" sz="130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5410048" cy="1966468"/>
          </a:xfrm>
          <a:prstGeom prst="roundRect">
            <a:avLst>
              <a:gd name="adj" fmla="val 3590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2717800"/>
            <a:ext cx="416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2D18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2800" dirty="0">
              <a:solidFill>
                <a:srgbClr val="42D180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1791" y="3304331"/>
            <a:ext cx="5185746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Sovereign Customs &amp; Border Control Agencies / Transport Ministries — B2G SaaS enterprise contracts (setup + annual license).</a:t>
            </a:r>
          </a:p>
          <a:p>
            <a:pPr>
              <a:lnSpc>
                <a:spcPct val="125000"/>
              </a:lnSpc>
            </a:pPr>
            <a:endParaRPr lang="en-US" sz="1200" dirty="0">
              <a:solidFill>
                <a:srgbClr val="5B7566"/>
              </a:solidFill>
              <a:latin typeface="Georgia"/>
              <a:ea typeface="+mn-lt"/>
              <a:cs typeface="+mn-lt"/>
            </a:endParaRPr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5B7566"/>
                </a:solidFill>
                <a:ea typeface="+mn-lt"/>
                <a:cs typeface="+mn-lt"/>
              </a:rPr>
              <a:t>Sovereign Transport Ministries &amp; Customs Agencies (B2G Enterprise Contracts: R.1 Setup, R.2 SaaS License, R.3 Remote Governance Retainer).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278728" y="2606040"/>
            <a:ext cx="5410048" cy="1783080"/>
          </a:xfrm>
          <a:prstGeom prst="roundRect">
            <a:avLst>
              <a:gd name="adj" fmla="val 3590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34760" y="2812288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5AD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Who Operates</a:t>
            </a:r>
            <a:endParaRPr lang="en-US" sz="2400" dirty="0">
              <a:solidFill>
                <a:srgbClr val="35AD6A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34760" y="3291333"/>
            <a:ext cx="489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Checkpoint border control officers, using the WebGL SCADA Digital Twin viewport for automated, sub-500ms pass/fail decisions.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02920" y="4709160"/>
            <a:ext cx="5410048" cy="1783080"/>
          </a:xfrm>
          <a:prstGeom prst="roundRect">
            <a:avLst>
              <a:gd name="adj" fmla="val 3590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5672" y="4801683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5AD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Direct Beneficiaries</a:t>
            </a:r>
            <a:endParaRPr lang="en-US" sz="2400" dirty="0">
              <a:solidFill>
                <a:srgbClr val="35AD6A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1791" y="5261380"/>
            <a:ext cx="4897984" cy="114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Freight operators &amp; 3PL dispatchers save 20+ hours per transit, cut auxiliary diesel cost, and recover driver duty hours.</a:t>
            </a:r>
            <a:endParaRPr lang="en-US" sz="1200" dirty="0">
              <a:solidFill>
                <a:srgbClr val="000000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200" dirty="0">
              <a:solidFill>
                <a:srgbClr val="5B7566"/>
              </a:solidFill>
              <a:latin typeface="Georgia" panose="02040502050405020303" pitchFamily="18" charset="0"/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5B7566"/>
                </a:solidFill>
                <a:ea typeface="+mn-lt"/>
                <a:cs typeface="+mn-lt"/>
              </a:rPr>
              <a:t>Freight operators save 20.0 hours per transit, eliminate 50 L of idling reefer diesel burn (€75 direct fuel cash saved), and recover driver duty hours.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6278728" y="4709160"/>
            <a:ext cx="5410048" cy="1783080"/>
          </a:xfrm>
          <a:prstGeom prst="roundRect">
            <a:avLst>
              <a:gd name="adj" fmla="val 3590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34760" y="4914392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5AD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Indirect Beneficiaries</a:t>
            </a:r>
            <a:endParaRPr lang="en-US" sz="2000" dirty="0">
              <a:solidFill>
                <a:srgbClr val="35AD6A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534760" y="5310632"/>
            <a:ext cx="489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Border communities gain cleaner air; public authorities gain data transparency; society gains a smaller Scope 3 footprint.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BENEFICIARIES &amp; VALUE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870FB2-5E21-4509-A07F-953668C71A69}"/>
              </a:ext>
            </a:extLst>
          </p:cNvPr>
          <p:cNvSpPr/>
          <p:nvPr/>
        </p:nvSpPr>
        <p:spPr>
          <a:xfrm>
            <a:off x="5225568" y="2331720"/>
            <a:ext cx="870432" cy="837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74F55-767E-4DA7-B434-C27B2FEAA7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6784" y="2402205"/>
            <a:ext cx="698291" cy="698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E1011CB5-8900-4874-A392-025D811204D8}"/>
              </a:ext>
            </a:extLst>
          </p:cNvPr>
          <p:cNvSpPr/>
          <p:nvPr/>
        </p:nvSpPr>
        <p:spPr>
          <a:xfrm>
            <a:off x="5248440" y="4339993"/>
            <a:ext cx="870432" cy="837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4732FF-04B1-4F52-A9BD-9DFA7E45F60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5359298" y="4448144"/>
            <a:ext cx="655777" cy="655777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C2EA9578-C3E7-4933-95C5-AF30CB14C50B}"/>
              </a:ext>
            </a:extLst>
          </p:cNvPr>
          <p:cNvSpPr/>
          <p:nvPr/>
        </p:nvSpPr>
        <p:spPr>
          <a:xfrm>
            <a:off x="11074376" y="2334596"/>
            <a:ext cx="870432" cy="837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DB7506-78EC-4B9C-AF7C-6BC1B9710FA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1194312" y="2379566"/>
            <a:ext cx="676468" cy="676468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1CC89E96-264A-4FBA-84C8-9B335CAA9968}"/>
              </a:ext>
            </a:extLst>
          </p:cNvPr>
          <p:cNvSpPr/>
          <p:nvPr/>
        </p:nvSpPr>
        <p:spPr>
          <a:xfrm>
            <a:off x="11104145" y="4335492"/>
            <a:ext cx="870432" cy="837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B0A1085-234C-41A1-A2B6-EC1193555A9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1215003" y="4443643"/>
            <a:ext cx="655777" cy="6557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E9B55"/>
                </a:solidFill>
                <a:latin typeface="Georgia" panose="02040502050405020303" pitchFamily="18" charset="0"/>
                <a:ea typeface="Calibri"/>
                <a:cs typeface="Calibri"/>
              </a:rPr>
              <a:t>05 — </a:t>
            </a:r>
            <a:r>
              <a:rPr lang="en-US" sz="1200" b="1" kern="0" spc="200" dirty="0">
                <a:solidFill>
                  <a:srgbClr val="1E9B55"/>
                </a:solidFill>
                <a:latin typeface="Georgia" panose="02040502050405020303" pitchFamily="18" charset="0"/>
                <a:ea typeface="+mn-lt"/>
                <a:cs typeface="+mn-lt"/>
              </a:rPr>
              <a:t>3-Gate Digital Twin Architecture</a:t>
            </a:r>
            <a:endParaRPr lang="en-US" sz="1200" b="1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 Digital Twin &amp; Distributed</a:t>
            </a:r>
            <a:endParaRPr lang="en-US" sz="27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Decision Engine</a:t>
            </a:r>
            <a:endParaRPr lang="en-US" sz="27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Sub-500ms gate clearance via asynchronous upstream telemetry fusion, governed by a read-only MCP server layer.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2606040" cy="1487942"/>
          </a:xfrm>
          <a:prstGeom prst="roundRect">
            <a:avLst>
              <a:gd name="adj" fmla="val 3256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110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5AD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Gate 1 — Identity</a:t>
            </a:r>
            <a:endParaRPr lang="en-US" sz="2000" dirty="0">
              <a:solidFill>
                <a:srgbClr val="35AD6A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70589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Live OCR plate data vs. driver RFID tokens &amp; SHA-256 manifest hash.</a:t>
            </a:r>
            <a:endParaRPr lang="en-US" sz="950" dirty="0">
              <a:latin typeface="Georgia" panose="02040502050405020303" pitchFamily="18" charset="0"/>
            </a:endParaRPr>
          </a:p>
        </p:txBody>
      </p:sp>
      <p:pic>
        <p:nvPicPr>
          <p:cNvPr id="10" name="Image 1" descr="/home/claude/deck/icons/arrowright_green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40964" y="3383280"/>
            <a:ext cx="347472" cy="347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20440" y="2834640"/>
            <a:ext cx="2606040" cy="1487942"/>
          </a:xfrm>
          <a:prstGeom prst="roundRect">
            <a:avLst>
              <a:gd name="adj" fmla="val 3256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621024" y="3110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5AD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Gate 2 — Weight Compliance</a:t>
            </a:r>
            <a:endParaRPr lang="en-US" sz="2000" dirty="0">
              <a:solidFill>
                <a:srgbClr val="35AD6A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65760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Weigh-in-Motion axle load vs. declared gross weight (±2.5% tolerance).</a:t>
            </a:r>
            <a:endParaRPr lang="en-US" sz="950">
              <a:latin typeface="Georgia" panose="02040502050405020303" pitchFamily="18" charset="0"/>
            </a:endParaRPr>
          </a:p>
        </p:txBody>
      </p:sp>
      <p:pic>
        <p:nvPicPr>
          <p:cNvPr id="16" name="Image 3" descr="/home/claude/deck/icons/arrowright_green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58484" y="3383280"/>
            <a:ext cx="347472" cy="3474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537960" y="2834640"/>
            <a:ext cx="2606040" cy="1487942"/>
          </a:xfrm>
          <a:prstGeom prst="roundRect">
            <a:avLst>
              <a:gd name="adj" fmla="val 3256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675120" y="3107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5AD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Gate 3 — Customs Carnet</a:t>
            </a:r>
            <a:endParaRPr lang="en-US" sz="2000" dirty="0">
              <a:solidFill>
                <a:srgbClr val="35AD6A"/>
              </a:solidFill>
              <a:latin typeface="Georgia" panose="02040502050405020303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675120" y="381966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Verifies pre-cleared digital carnet authorization status.</a:t>
            </a:r>
            <a:endParaRPr lang="en-US" sz="950">
              <a:latin typeface="Georgia" panose="02040502050405020303" pitchFamily="18" charset="0"/>
            </a:endParaRPr>
          </a:p>
        </p:txBody>
      </p:sp>
      <p:pic>
        <p:nvPicPr>
          <p:cNvPr id="22" name="Image 5" descr="/home/claude/deck/icons/arrowright_green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76004" y="3383280"/>
            <a:ext cx="347472" cy="34747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555480" y="2834640"/>
            <a:ext cx="2130552" cy="1487942"/>
          </a:xfrm>
          <a:prstGeom prst="roundRect">
            <a:avLst>
              <a:gd name="adj" fmla="val 3256"/>
            </a:avLst>
          </a:prstGeom>
          <a:solidFill>
            <a:srgbClr val="072C19"/>
          </a:solidFill>
          <a:ln/>
        </p:spPr>
      </p:sp>
      <p:sp>
        <p:nvSpPr>
          <p:cNvPr id="26" name="Text 17"/>
          <p:cNvSpPr/>
          <p:nvPr/>
        </p:nvSpPr>
        <p:spPr>
          <a:xfrm>
            <a:off x="9665208" y="3145536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libri" pitchFamily="34" charset="-120"/>
              </a:rPr>
              <a:t>EXPRESS_PASS</a:t>
            </a:r>
            <a:endParaRPr lang="en-US" sz="1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libri" pitchFamily="34" charset="-120"/>
              </a:rPr>
              <a:t>or</a:t>
            </a:r>
            <a:endParaRPr lang="en-US" sz="1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libri" pitchFamily="34" charset="-120"/>
              </a:rPr>
              <a:t>INSPECTION_DIVERSION</a:t>
            </a:r>
            <a:endParaRPr lang="en-US" sz="1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502920" y="4828032"/>
            <a:ext cx="7040880" cy="1143000"/>
          </a:xfrm>
          <a:prstGeom prst="roundRect">
            <a:avLst>
              <a:gd name="adj" fmla="val 5600"/>
            </a:avLst>
          </a:prstGeom>
          <a:solidFill>
            <a:srgbClr val="DEFAEA"/>
          </a:solidFill>
          <a:ln/>
        </p:spPr>
      </p:sp>
      <p:sp>
        <p:nvSpPr>
          <p:cNvPr id="28" name="Text 19"/>
          <p:cNvSpPr/>
          <p:nvPr/>
        </p:nvSpPr>
        <p:spPr>
          <a:xfrm>
            <a:off x="731520" y="495604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84F3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Upstream pre-validation  </a:t>
            </a:r>
            <a:r>
              <a:rPr lang="en-US" sz="1100" dirty="0">
                <a:solidFill>
                  <a:srgbClr val="184F3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— heavy regulatory checks (CMR, T1/TIR, phytosanitary, X-ray, radiation) are cleared at certified logistics hubs; telemetry asynchronously updates the Digital Twin state matrix before the HGV reaches the checkpoint.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7726680" y="4828032"/>
            <a:ext cx="3959352" cy="1143000"/>
          </a:xfrm>
          <a:prstGeom prst="roundRect">
            <a:avLst>
              <a:gd name="adj" fmla="val 5600"/>
            </a:avLst>
          </a:prstGeom>
          <a:solidFill>
            <a:srgbClr val="1E9B55"/>
          </a:solidFill>
          <a:ln/>
        </p:spPr>
      </p:sp>
      <p:sp>
        <p:nvSpPr>
          <p:cNvPr id="30" name="Text 21"/>
          <p:cNvSpPr/>
          <p:nvPr/>
        </p:nvSpPr>
        <p:spPr>
          <a:xfrm>
            <a:off x="7909560" y="505612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&lt;10ms</a:t>
            </a:r>
            <a:endParaRPr lang="en-US" sz="3000">
              <a:latin typeface="Georgia" panose="02040502050405020303" pitchFamily="18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9646920" y="4937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CF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Gate microservice latency — comfortably inside the sub-500ms SLA for 1,200 trucks/day.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3-GATE DIGITAL TWIN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2CEB-7970-E6D0-14F6-093796D69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6AFA8A6-249E-2750-0D8E-FBD80C4CB849}"/>
              </a:ext>
            </a:extLst>
          </p:cNvPr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00">
                <a:solidFill>
                  <a:srgbClr val="FFD965"/>
                </a:solidFill>
                <a:ea typeface="+mn-lt"/>
                <a:cs typeface="+mn-lt"/>
              </a:rPr>
              <a:t>Slide 06: </a:t>
            </a:r>
            <a:r>
              <a:rPr lang="en-US" sz="1600" kern="0" spc="200">
                <a:solidFill>
                  <a:srgbClr val="FFD965"/>
                </a:solidFill>
                <a:ea typeface="+mn-lt"/>
                <a:cs typeface="+mn-lt"/>
              </a:rPr>
              <a:t>How It Works: Technical Flowchart</a:t>
            </a:r>
            <a:endParaRPr lang="en-US" sz="1600" b="1">
              <a:solidFill>
                <a:srgbClr val="FFD965"/>
              </a:solidFill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34D8F8-1D2D-4E4E-8CE2-4DB61F0CC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0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95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F19D-3E9E-2DC4-4C9B-106EFBE5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44EFE1-45D5-4DF9-9B0F-D9CF6005FBD5}"/>
              </a:ext>
            </a:extLst>
          </p:cNvPr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 dirty="0">
                <a:solidFill>
                  <a:srgbClr val="1E9B55"/>
                </a:solidFill>
                <a:latin typeface="Georgia"/>
              </a:rPr>
              <a:t>07 — DIGITAL TWIN PROTOTYPE &amp; SCADA VIEWPORT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F3D00-B1F5-4789-8A73-5EE09B1C6E5B}"/>
              </a:ext>
            </a:extLst>
          </p:cNvPr>
          <p:cNvSpPr txBox="1"/>
          <p:nvPr/>
        </p:nvSpPr>
        <p:spPr>
          <a:xfrm>
            <a:off x="502920" y="869380"/>
            <a:ext cx="7955280" cy="78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Georgia"/>
              </a:rPr>
              <a:t>WebGL SCADA Viewport</a:t>
            </a:r>
          </a:p>
          <a:p>
            <a:pPr algn="l">
              <a:lnSpc>
                <a:spcPct val="105000"/>
              </a:lnSpc>
            </a:pPr>
            <a:r>
              <a:rPr sz="25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Georgia"/>
              </a:rPr>
              <a:t>for Officer Decision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1FF92-3A3C-4F6D-BC2B-6037B49815BA}"/>
              </a:ext>
            </a:extLst>
          </p:cNvPr>
          <p:cNvSpPr txBox="1"/>
          <p:nvPr/>
        </p:nvSpPr>
        <p:spPr>
          <a:xfrm>
            <a:off x="502920" y="1913552"/>
            <a:ext cx="10200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chemeClr val="accent6">
                    <a:lumMod val="20000"/>
                    <a:lumOff val="80000"/>
                  </a:schemeClr>
                </a:solidFill>
                <a:latin typeface="Calibri"/>
              </a:rPr>
              <a:t>A read-only monitoring surface: officers see AI recommendations but retain full override authority.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4D4D8-7D68-4900-93C2-0B7DA621158A}"/>
              </a:ext>
            </a:extLst>
          </p:cNvPr>
          <p:cNvSpPr/>
          <p:nvPr/>
        </p:nvSpPr>
        <p:spPr>
          <a:xfrm>
            <a:off x="502920" y="2280000"/>
            <a:ext cx="11186160" cy="4000000"/>
          </a:xfrm>
          <a:prstGeom prst="rect">
            <a:avLst/>
          </a:prstGeom>
          <a:solidFill>
            <a:srgbClr val="10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B4736-13DA-4DD3-95EC-DDAC6B8E2137}"/>
              </a:ext>
            </a:extLst>
          </p:cNvPr>
          <p:cNvSpPr/>
          <p:nvPr/>
        </p:nvSpPr>
        <p:spPr>
          <a:xfrm>
            <a:off x="502920" y="2280000"/>
            <a:ext cx="11186160" cy="420000"/>
          </a:xfrm>
          <a:prstGeom prst="rect">
            <a:avLst/>
          </a:prstGeom>
          <a:solidFill>
            <a:srgbClr val="072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269042-4A3B-4F23-B4CD-762D9B2F2D1C}"/>
              </a:ext>
            </a:extLst>
          </p:cNvPr>
          <p:cNvSpPr/>
          <p:nvPr/>
        </p:nvSpPr>
        <p:spPr>
          <a:xfrm>
            <a:off x="722920" y="2430000"/>
            <a:ext cx="120000" cy="120000"/>
          </a:xfrm>
          <a:prstGeom prst="ellipse">
            <a:avLst/>
          </a:prstGeom>
          <a:solidFill>
            <a:srgbClr val="42D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38C380-F43C-4D9B-A152-B2B1FB8D514E}"/>
              </a:ext>
            </a:extLst>
          </p:cNvPr>
          <p:cNvSpPr/>
          <p:nvPr/>
        </p:nvSpPr>
        <p:spPr>
          <a:xfrm>
            <a:off x="982920" y="2430000"/>
            <a:ext cx="120000" cy="120000"/>
          </a:xfrm>
          <a:prstGeom prst="ellipse">
            <a:avLst/>
          </a:prstGeom>
          <a:solidFill>
            <a:srgbClr val="BFF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B9E6A1-3854-47E2-8D9B-BA1C682DAAE0}"/>
              </a:ext>
            </a:extLst>
          </p:cNvPr>
          <p:cNvSpPr/>
          <p:nvPr/>
        </p:nvSpPr>
        <p:spPr>
          <a:xfrm>
            <a:off x="1242920" y="2430000"/>
            <a:ext cx="120000" cy="12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2CDFA-CF32-4EA2-814D-48D646A05FF1}"/>
              </a:ext>
            </a:extLst>
          </p:cNvPr>
          <p:cNvSpPr txBox="1"/>
          <p:nvPr/>
        </p:nvSpPr>
        <p:spPr>
          <a:xfrm>
            <a:off x="1702920" y="2280000"/>
            <a:ext cx="87861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FFFFF"/>
                </a:solidFill>
                <a:latin typeface="Georgia"/>
              </a:rPr>
              <a:t>DOROHUSK DIGITAL TWIN — LIVE SCADA VIEWPORT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C44BE-5857-4905-B8C9-403EA156A768}"/>
              </a:ext>
            </a:extLst>
          </p:cNvPr>
          <p:cNvSpPr txBox="1"/>
          <p:nvPr/>
        </p:nvSpPr>
        <p:spPr>
          <a:xfrm>
            <a:off x="9989080" y="2280000"/>
            <a:ext cx="15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42D180"/>
                </a:solidFill>
                <a:latin typeface="Calibri"/>
              </a:rPr>
              <a:t>● LIVE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D74E5D-97FA-4228-A6F9-BCDBC40B3567}"/>
              </a:ext>
            </a:extLst>
          </p:cNvPr>
          <p:cNvSpPr/>
          <p:nvPr/>
        </p:nvSpPr>
        <p:spPr>
          <a:xfrm>
            <a:off x="622920" y="2820000"/>
            <a:ext cx="3300000" cy="3340000"/>
          </a:xfrm>
          <a:prstGeom prst="rect">
            <a:avLst/>
          </a:prstGeom>
          <a:solidFill>
            <a:srgbClr val="0B3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B7B81A-33F1-4B15-850C-5C6549D0344B}"/>
              </a:ext>
            </a:extLst>
          </p:cNvPr>
          <p:cNvSpPr txBox="1"/>
          <p:nvPr/>
        </p:nvSpPr>
        <p:spPr>
          <a:xfrm>
            <a:off x="742920" y="2920000"/>
            <a:ext cx="306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150">
                <a:solidFill>
                  <a:srgbClr val="8CE9B4"/>
                </a:solidFill>
                <a:latin typeface="Georgia"/>
              </a:rPr>
              <a:t>GATE 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0650D0-B6E6-4E17-8C2F-3A0E0477BEF6}"/>
              </a:ext>
            </a:extLst>
          </p:cNvPr>
          <p:cNvSpPr txBox="1"/>
          <p:nvPr/>
        </p:nvSpPr>
        <p:spPr>
          <a:xfrm>
            <a:off x="742920" y="3300000"/>
            <a:ext cx="22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Gate 1 — Identity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778BE3FE-874E-43C2-A7E8-0B1092E177E7}"/>
              </a:ext>
            </a:extLst>
          </p:cNvPr>
          <p:cNvSpPr/>
          <p:nvPr/>
        </p:nvSpPr>
        <p:spPr>
          <a:xfrm>
            <a:off x="3042920" y="3450000"/>
            <a:ext cx="640000" cy="260000"/>
          </a:xfrm>
          <a:prstGeom prst="roundRect">
            <a:avLst/>
          </a:prstGeom>
          <a:solidFill>
            <a:srgbClr val="42D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DC8DC8-A9DB-4714-88BF-067A8FD6723B}"/>
              </a:ext>
            </a:extLst>
          </p:cNvPr>
          <p:cNvSpPr txBox="1"/>
          <p:nvPr/>
        </p:nvSpPr>
        <p:spPr>
          <a:xfrm>
            <a:off x="3042920" y="3450000"/>
            <a:ext cx="640000" cy="2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0201A"/>
                </a:solidFill>
                <a:latin typeface="Georgia"/>
              </a:rPr>
              <a:t>PASS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F23B6-62B0-466E-90AA-1B816AC194DC}"/>
              </a:ext>
            </a:extLst>
          </p:cNvPr>
          <p:cNvSpPr txBox="1"/>
          <p:nvPr/>
        </p:nvSpPr>
        <p:spPr>
          <a:xfrm>
            <a:off x="742920" y="3860000"/>
            <a:ext cx="22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Gate 2 — Weight Compliance</a:t>
            </a: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444E8793-4A63-45BC-8A49-6800A112953B}"/>
              </a:ext>
            </a:extLst>
          </p:cNvPr>
          <p:cNvSpPr/>
          <p:nvPr/>
        </p:nvSpPr>
        <p:spPr>
          <a:xfrm>
            <a:off x="3042920" y="4010000"/>
            <a:ext cx="640000" cy="260000"/>
          </a:xfrm>
          <a:prstGeom prst="roundRect">
            <a:avLst/>
          </a:prstGeom>
          <a:solidFill>
            <a:srgbClr val="42D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9FFF4-EE41-4D51-95F0-A6ADBD630254}"/>
              </a:ext>
            </a:extLst>
          </p:cNvPr>
          <p:cNvSpPr txBox="1"/>
          <p:nvPr/>
        </p:nvSpPr>
        <p:spPr>
          <a:xfrm>
            <a:off x="3042920" y="4010000"/>
            <a:ext cx="640000" cy="2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0201A"/>
                </a:solidFill>
                <a:latin typeface="Georgia"/>
              </a:rPr>
              <a:t>PASS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86536B-872B-4EE6-8D7F-99E97DF653B1}"/>
              </a:ext>
            </a:extLst>
          </p:cNvPr>
          <p:cNvSpPr txBox="1"/>
          <p:nvPr/>
        </p:nvSpPr>
        <p:spPr>
          <a:xfrm>
            <a:off x="742920" y="4420000"/>
            <a:ext cx="22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Gate 3 — Customs Carnet</a:t>
            </a: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0008521D-5061-45C7-8BDB-25BA8C34D056}"/>
              </a:ext>
            </a:extLst>
          </p:cNvPr>
          <p:cNvSpPr/>
          <p:nvPr/>
        </p:nvSpPr>
        <p:spPr>
          <a:xfrm>
            <a:off x="3042920" y="4570000"/>
            <a:ext cx="640000" cy="260000"/>
          </a:xfrm>
          <a:prstGeom prst="roundRect">
            <a:avLst/>
          </a:prstGeom>
          <a:solidFill>
            <a:srgbClr val="FFD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0A54B9-A281-4C05-BF47-C22764F0C034}"/>
              </a:ext>
            </a:extLst>
          </p:cNvPr>
          <p:cNvSpPr txBox="1"/>
          <p:nvPr/>
        </p:nvSpPr>
        <p:spPr>
          <a:xfrm>
            <a:off x="3042920" y="4570000"/>
            <a:ext cx="640000" cy="2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0201A"/>
                </a:solidFill>
                <a:latin typeface="Georgia"/>
              </a:rPr>
              <a:t>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3F8E20-5F4C-4A37-83F5-915AF486D8F6}"/>
              </a:ext>
            </a:extLst>
          </p:cNvPr>
          <p:cNvSpPr txBox="1"/>
          <p:nvPr/>
        </p:nvSpPr>
        <p:spPr>
          <a:xfrm>
            <a:off x="742920" y="5040000"/>
            <a:ext cx="282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BFF3D5"/>
                </a:solidFill>
                <a:latin typeface="Calibri"/>
              </a:rPr>
              <a:t>Decision SLA: &lt;500ms end-to-end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36691-28DB-449B-9306-9A19AE0C4D84}"/>
              </a:ext>
            </a:extLst>
          </p:cNvPr>
          <p:cNvSpPr/>
          <p:nvPr/>
        </p:nvSpPr>
        <p:spPr>
          <a:xfrm>
            <a:off x="4102920" y="2820000"/>
            <a:ext cx="7466160" cy="3340000"/>
          </a:xfrm>
          <a:prstGeom prst="rect">
            <a:avLst/>
          </a:prstGeom>
          <a:solidFill>
            <a:srgbClr val="0B3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0033F6-E869-452D-88D6-A108300DE886}"/>
              </a:ext>
            </a:extLst>
          </p:cNvPr>
          <p:cNvSpPr txBox="1"/>
          <p:nvPr/>
        </p:nvSpPr>
        <p:spPr>
          <a:xfrm>
            <a:off x="4302920" y="2920000"/>
            <a:ext cx="706616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100">
                <a:solidFill>
                  <a:srgbClr val="8CE9B4"/>
                </a:solidFill>
                <a:latin typeface="Georgia"/>
              </a:rPr>
              <a:t>PRE-AUTH QUEUE (NEXT 4 TRANSITS)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927676-291F-4EAB-A8C4-3DCCDA266642}"/>
              </a:ext>
            </a:extLst>
          </p:cNvPr>
          <p:cNvSpPr txBox="1"/>
          <p:nvPr/>
        </p:nvSpPr>
        <p:spPr>
          <a:xfrm>
            <a:off x="4302920" y="3300000"/>
            <a:ext cx="127190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50">
                <a:solidFill>
                  <a:srgbClr val="5B7566"/>
                </a:solidFill>
                <a:latin typeface="Georgia"/>
              </a:rPr>
              <a:t>TRUCK ID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C7BB4-972B-426A-9ED8-BC9AC1635C36}"/>
              </a:ext>
            </a:extLst>
          </p:cNvPr>
          <p:cNvSpPr txBox="1"/>
          <p:nvPr/>
        </p:nvSpPr>
        <p:spPr>
          <a:xfrm>
            <a:off x="5574828" y="3300000"/>
            <a:ext cx="211984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50">
                <a:solidFill>
                  <a:srgbClr val="5B7566"/>
                </a:solidFill>
                <a:latin typeface="Georgia"/>
              </a:rPr>
              <a:t>CARGO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AEA13C-8FCD-4EAA-87F0-DC02FF7441DD}"/>
              </a:ext>
            </a:extLst>
          </p:cNvPr>
          <p:cNvSpPr txBox="1"/>
          <p:nvPr/>
        </p:nvSpPr>
        <p:spPr>
          <a:xfrm>
            <a:off x="7694676" y="3300000"/>
            <a:ext cx="1130585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50">
                <a:solidFill>
                  <a:srgbClr val="5B7566"/>
                </a:solidFill>
                <a:latin typeface="Georgia"/>
              </a:rPr>
              <a:t>ETA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23622C-49A1-481A-8360-A270165F30F9}"/>
              </a:ext>
            </a:extLst>
          </p:cNvPr>
          <p:cNvSpPr txBox="1"/>
          <p:nvPr/>
        </p:nvSpPr>
        <p:spPr>
          <a:xfrm>
            <a:off x="8825262" y="3300000"/>
            <a:ext cx="2543817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50">
                <a:solidFill>
                  <a:srgbClr val="5B7566"/>
                </a:solidFill>
                <a:latin typeface="Georgia"/>
              </a:rPr>
              <a:t>RECOMMENDATION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8509E8-46F5-45AD-91AC-724EC05B6689}"/>
              </a:ext>
            </a:extLst>
          </p:cNvPr>
          <p:cNvSpPr/>
          <p:nvPr/>
        </p:nvSpPr>
        <p:spPr>
          <a:xfrm>
            <a:off x="4202920" y="3640000"/>
            <a:ext cx="7266160" cy="460000"/>
          </a:xfrm>
          <a:prstGeom prst="rect">
            <a:avLst/>
          </a:prstGeom>
          <a:solidFill>
            <a:srgbClr val="0F4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9214FC-C511-4AD4-B090-C54274A066A3}"/>
              </a:ext>
            </a:extLst>
          </p:cNvPr>
          <p:cNvSpPr txBox="1"/>
          <p:nvPr/>
        </p:nvSpPr>
        <p:spPr>
          <a:xfrm>
            <a:off x="4302920" y="3640000"/>
            <a:ext cx="127190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PL-3391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305136-DC23-4BF1-9551-D14A369C2C66}"/>
              </a:ext>
            </a:extLst>
          </p:cNvPr>
          <p:cNvSpPr txBox="1"/>
          <p:nvPr/>
        </p:nvSpPr>
        <p:spPr>
          <a:xfrm>
            <a:off x="5574828" y="3640000"/>
            <a:ext cx="211984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Reefer / Agri-food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07A20F-2961-447D-BFE5-E83BBF9A38B1}"/>
              </a:ext>
            </a:extLst>
          </p:cNvPr>
          <p:cNvSpPr txBox="1"/>
          <p:nvPr/>
        </p:nvSpPr>
        <p:spPr>
          <a:xfrm>
            <a:off x="7694676" y="3640000"/>
            <a:ext cx="1130585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06 min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3D8C86-FBAF-4B3D-BFFF-34A8333CF65F}"/>
              </a:ext>
            </a:extLst>
          </p:cNvPr>
          <p:cNvSpPr txBox="1"/>
          <p:nvPr/>
        </p:nvSpPr>
        <p:spPr>
          <a:xfrm>
            <a:off x="8825262" y="3640000"/>
            <a:ext cx="2543817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42D180"/>
                </a:solidFill>
                <a:latin typeface="Georgia"/>
              </a:rPr>
              <a:t>EXPRESS_PASS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DB14EF-2DC1-4188-938A-8C133FEA99C9}"/>
              </a:ext>
            </a:extLst>
          </p:cNvPr>
          <p:cNvSpPr txBox="1"/>
          <p:nvPr/>
        </p:nvSpPr>
        <p:spPr>
          <a:xfrm>
            <a:off x="4302920" y="4100000"/>
            <a:ext cx="127190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UA-8820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56089D-0A9F-474B-B3CF-E6125998A880}"/>
              </a:ext>
            </a:extLst>
          </p:cNvPr>
          <p:cNvSpPr txBox="1"/>
          <p:nvPr/>
        </p:nvSpPr>
        <p:spPr>
          <a:xfrm>
            <a:off x="5574828" y="4100000"/>
            <a:ext cx="211984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Dry Van / General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30128E-5069-4317-A1BB-21A5A04FD71E}"/>
              </a:ext>
            </a:extLst>
          </p:cNvPr>
          <p:cNvSpPr txBox="1"/>
          <p:nvPr/>
        </p:nvSpPr>
        <p:spPr>
          <a:xfrm>
            <a:off x="7694676" y="4100000"/>
            <a:ext cx="1130585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11 min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3DA3B7-82C3-4196-A2E7-1939D9B2DBFC}"/>
              </a:ext>
            </a:extLst>
          </p:cNvPr>
          <p:cNvSpPr txBox="1"/>
          <p:nvPr/>
        </p:nvSpPr>
        <p:spPr>
          <a:xfrm>
            <a:off x="8825262" y="4100000"/>
            <a:ext cx="2543817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42D180"/>
                </a:solidFill>
                <a:latin typeface="Georgia"/>
              </a:rPr>
              <a:t>EXPRESS_PASS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D01A29-C47C-44C1-85C2-12B7DDB4806A}"/>
              </a:ext>
            </a:extLst>
          </p:cNvPr>
          <p:cNvSpPr/>
          <p:nvPr/>
        </p:nvSpPr>
        <p:spPr>
          <a:xfrm>
            <a:off x="4202920" y="4560000"/>
            <a:ext cx="7266160" cy="460000"/>
          </a:xfrm>
          <a:prstGeom prst="rect">
            <a:avLst/>
          </a:prstGeom>
          <a:solidFill>
            <a:srgbClr val="0F4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E84626-51AC-4E54-A7C4-5105F1E8B63B}"/>
              </a:ext>
            </a:extLst>
          </p:cNvPr>
          <p:cNvSpPr txBox="1"/>
          <p:nvPr/>
        </p:nvSpPr>
        <p:spPr>
          <a:xfrm>
            <a:off x="4302920" y="4560000"/>
            <a:ext cx="127190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PL-1147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165DB2-465A-42F6-B579-A8A81EBBC996}"/>
              </a:ext>
            </a:extLst>
          </p:cNvPr>
          <p:cNvSpPr txBox="1"/>
          <p:nvPr/>
        </p:nvSpPr>
        <p:spPr>
          <a:xfrm>
            <a:off x="5574828" y="4560000"/>
            <a:ext cx="211984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Reefer / Pharma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7FB1-733B-4025-8C04-967B8268226A}"/>
              </a:ext>
            </a:extLst>
          </p:cNvPr>
          <p:cNvSpPr txBox="1"/>
          <p:nvPr/>
        </p:nvSpPr>
        <p:spPr>
          <a:xfrm>
            <a:off x="7694676" y="4560000"/>
            <a:ext cx="1130585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14 min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0F24F9-5831-4A33-A3AF-053C8DDF8E33}"/>
              </a:ext>
            </a:extLst>
          </p:cNvPr>
          <p:cNvSpPr txBox="1"/>
          <p:nvPr/>
        </p:nvSpPr>
        <p:spPr>
          <a:xfrm>
            <a:off x="8825262" y="4560000"/>
            <a:ext cx="2543817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42D180"/>
                </a:solidFill>
                <a:latin typeface="Georgia"/>
              </a:rPr>
              <a:t>EXPRESS_PASS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A48C5F-FB4B-4348-B420-68DE2907EA29}"/>
              </a:ext>
            </a:extLst>
          </p:cNvPr>
          <p:cNvSpPr txBox="1"/>
          <p:nvPr/>
        </p:nvSpPr>
        <p:spPr>
          <a:xfrm>
            <a:off x="4302920" y="5020000"/>
            <a:ext cx="127190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UA-5502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4A1893-F798-401C-A6E9-EA9647C8CB85}"/>
              </a:ext>
            </a:extLst>
          </p:cNvPr>
          <p:cNvSpPr txBox="1"/>
          <p:nvPr/>
        </p:nvSpPr>
        <p:spPr>
          <a:xfrm>
            <a:off x="5574828" y="5020000"/>
            <a:ext cx="2119848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Flatbed / Steel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B3F21E-F39D-43A5-9AA4-8A36649FE22B}"/>
              </a:ext>
            </a:extLst>
          </p:cNvPr>
          <p:cNvSpPr txBox="1"/>
          <p:nvPr/>
        </p:nvSpPr>
        <p:spPr>
          <a:xfrm>
            <a:off x="7694676" y="5020000"/>
            <a:ext cx="1130585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19 min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CFB860-442D-4C1F-865C-8191B2E003DC}"/>
              </a:ext>
            </a:extLst>
          </p:cNvPr>
          <p:cNvSpPr txBox="1"/>
          <p:nvPr/>
        </p:nvSpPr>
        <p:spPr>
          <a:xfrm>
            <a:off x="8825262" y="5020000"/>
            <a:ext cx="2543817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D965"/>
                </a:solidFill>
                <a:latin typeface="Georgia"/>
              </a:rPr>
              <a:t>INSPECTION_DIVERSION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F4A768-6110-4502-8EC0-0067BE272B52}"/>
              </a:ext>
            </a:extLst>
          </p:cNvPr>
          <p:cNvSpPr txBox="1"/>
          <p:nvPr/>
        </p:nvSpPr>
        <p:spPr>
          <a:xfrm>
            <a:off x="502920" y="654186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100" dirty="0">
                <a:solidFill>
                  <a:schemeClr val="accent6">
                    <a:lumMod val="20000"/>
                    <a:lumOff val="80000"/>
                  </a:schemeClr>
                </a:solidFill>
                <a:latin typeface="Georgia"/>
              </a:rPr>
              <a:t>PROTOTYPE &amp; SCADA VIEWPORT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FC13F7-E70A-40B8-9ABA-74569AB6C824}"/>
              </a:ext>
            </a:extLst>
          </p:cNvPr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B7566"/>
                </a:solidFill>
                <a:latin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47246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1B7A46"/>
            </a:gs>
            <a:gs pos="100000">
              <a:srgbClr val="072C19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08 — ENVIRONMENTAL MATH &amp; ESG MONETIZATION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Live Embedded</a:t>
            </a:r>
            <a:endParaRPr lang="en-US" sz="27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Environmental Assessment</a:t>
            </a:r>
            <a:endParaRPr lang="en-US" sz="27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>
                <a:solidFill>
                  <a:srgbClr val="BFF3D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Converting real-time telemetry into certified ESG &amp; resource metrics, per express transit.</a:t>
            </a: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51460" y="269570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Idling Time Reduction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63899" y="29957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T_saved</a:t>
            </a:r>
            <a:r>
              <a:rPr lang="en-US" sz="1100" b="1" dirty="0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= </a:t>
            </a:r>
            <a:r>
              <a:rPr lang="en-US" sz="1100" b="1" dirty="0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T_baseline</a:t>
            </a:r>
            <a:r>
              <a:rPr lang="en-US" sz="1100" b="1" dirty="0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 (20.5h) − </a:t>
            </a:r>
            <a:r>
              <a:rPr lang="en-US" sz="1100" b="1" dirty="0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T_pass</a:t>
            </a:r>
            <a:r>
              <a:rPr lang="en-US" sz="1100" b="1" dirty="0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(0.5h)</a:t>
            </a:r>
            <a:endParaRPr lang="en-US" sz="1100" b="1" dirty="0">
              <a:solidFill>
                <a:srgbClr val="DEFAEA"/>
              </a:solidFill>
              <a:latin typeface="Bahnschrift SemiBold" panose="020B0502040204020203" pitchFamily="34" charset="0"/>
              <a:cs typeface="Courier New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37710" y="26198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20.00</a:t>
            </a:r>
            <a:r>
              <a:rPr lang="en-US" sz="1400" b="1" dirty="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 </a:t>
            </a:r>
            <a:r>
              <a:rPr lang="en-US" sz="1400" b="1" dirty="0" err="1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hrs</a:t>
            </a:r>
            <a:r>
              <a:rPr lang="en-US" sz="1400" b="1" dirty="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 saved</a:t>
            </a:r>
            <a:endParaRPr lang="en-US" sz="1400" dirty="0">
              <a:latin typeface="Georgia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1460" y="34559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Auxiliary Fuel Saved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211580" y="38044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Fuel_saved</a:t>
            </a:r>
            <a:r>
              <a:rPr lang="en-US" sz="1100" b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= </a:t>
            </a:r>
            <a:r>
              <a:rPr lang="en-US" sz="1100" b="1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T_saved</a:t>
            </a:r>
            <a:r>
              <a:rPr lang="en-US" sz="1100" b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(20.00h) × </a:t>
            </a:r>
            <a:r>
              <a:rPr lang="en-US" sz="1100" b="1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Burn_Rate</a:t>
            </a:r>
            <a:r>
              <a:rPr lang="en-US" sz="1100" b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(2.50L)</a:t>
            </a:r>
            <a:endParaRPr lang="en-US" sz="1100" b="1" err="1">
              <a:solidFill>
                <a:srgbClr val="DEFAEA"/>
              </a:solidFill>
              <a:latin typeface="Bahnschrift SemiBold" panose="020B0502040204020203" pitchFamily="34" charset="0"/>
              <a:cs typeface="Courier New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37710" y="340848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50.00</a:t>
            </a:r>
            <a:r>
              <a:rPr lang="en-US" sz="1400" b="1" dirty="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 </a:t>
            </a:r>
            <a:r>
              <a:rPr lang="en-US" sz="1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L</a:t>
            </a:r>
            <a:r>
              <a:rPr lang="en-US" sz="1400" b="1" dirty="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 saved</a:t>
            </a:r>
            <a:endParaRPr lang="en-US" sz="1400" dirty="0">
              <a:latin typeface="Georgia"/>
              <a:ea typeface="Calibri"/>
              <a:cs typeface="Calibri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51460" y="423745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CO₂ Emissions Avoided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183182" y="4745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CO2_avoided = </a:t>
            </a:r>
            <a:r>
              <a:rPr lang="en-US" sz="1100" b="1" dirty="0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Fuel_saved</a:t>
            </a:r>
            <a:r>
              <a:rPr lang="en-US" sz="1100" b="1" dirty="0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(50.00L) × Factor(2.68Kg CO2/L)</a:t>
            </a:r>
            <a:endParaRPr lang="en-US" sz="1100" b="1" dirty="0">
              <a:solidFill>
                <a:srgbClr val="DEFAEA"/>
              </a:solidFill>
              <a:latin typeface="Bahnschrift SemiBold" panose="020B0502040204020203" pitchFamily="34" charset="0"/>
              <a:cs typeface="Courier New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503420" y="4299906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134.00</a:t>
            </a:r>
            <a:r>
              <a:rPr lang="en-US" sz="1400" b="1" dirty="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 </a:t>
            </a:r>
            <a:r>
              <a:rPr lang="en-US" sz="1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kg</a:t>
            </a:r>
            <a:r>
              <a:rPr lang="en-US" sz="1400" b="1" dirty="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 avoided</a:t>
            </a:r>
            <a:endParaRPr lang="en-US" sz="1400" dirty="0">
              <a:latin typeface="Georgia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55349" y="516932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Throughput Efficiency Gain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183182" y="5573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(</a:t>
            </a:r>
            <a:r>
              <a:rPr lang="en-US" sz="1100" b="1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T_saved</a:t>
            </a:r>
            <a:r>
              <a:rPr lang="en-US" sz="1100" b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(20h) / </a:t>
            </a:r>
            <a:r>
              <a:rPr lang="en-US" sz="1100" b="1" err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T_baseline</a:t>
            </a:r>
            <a:r>
              <a:rPr lang="en-US" sz="1100" b="1">
                <a:solidFill>
                  <a:srgbClr val="DEFAEA"/>
                </a:solidFill>
                <a:latin typeface="Bahnschrift SemiBold" panose="020B0502040204020203" pitchFamily="34" charset="0"/>
                <a:ea typeface="Courier New" pitchFamily="34" charset="-122"/>
                <a:cs typeface="Courier New"/>
              </a:rPr>
              <a:t> (20.5h) × 100</a:t>
            </a:r>
            <a:endParaRPr lang="en-US" sz="1100" b="1">
              <a:solidFill>
                <a:srgbClr val="DEFAEA"/>
              </a:solidFill>
              <a:latin typeface="Bahnschrift SemiBold" panose="020B0502040204020203" pitchFamily="34" charset="0"/>
              <a:cs typeface="Courier New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624555" y="509098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&gt;</a:t>
            </a:r>
            <a:r>
              <a:rPr lang="en-US" sz="2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97.5</a:t>
            </a:r>
            <a:r>
              <a:rPr lang="en-US" sz="1400" b="1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% </a:t>
            </a:r>
            <a:r>
              <a:rPr lang="en-US" sz="1400" b="1" dirty="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reduction</a:t>
            </a:r>
            <a:endParaRPr lang="en-US" sz="1400" dirty="0">
              <a:latin typeface="Georgia"/>
              <a:ea typeface="Calibri"/>
              <a:cs typeface="Calibri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360920" y="868680"/>
            <a:ext cx="4325112" cy="2331720"/>
          </a:xfrm>
          <a:prstGeom prst="roundRect">
            <a:avLst>
              <a:gd name="adj" fmla="val 3137"/>
            </a:avLst>
          </a:prstGeom>
          <a:solidFill>
            <a:srgbClr val="42D180"/>
          </a:solidFill>
          <a:ln/>
        </p:spPr>
      </p:sp>
      <p:sp>
        <p:nvSpPr>
          <p:cNvPr id="26" name="Text 20"/>
          <p:cNvSpPr/>
          <p:nvPr/>
        </p:nvSpPr>
        <p:spPr>
          <a:xfrm>
            <a:off x="7635240" y="1078992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072C19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CO₂ AVOIDED PER EXPRESS TRANSIT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635240" y="1417320"/>
            <a:ext cx="3776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72C19"/>
                </a:solidFill>
                <a:latin typeface="Georgia"/>
                <a:ea typeface="Arial" pitchFamily="34" charset="-122"/>
                <a:cs typeface="Arial"/>
              </a:rPr>
              <a:t>134.0 kg</a:t>
            </a:r>
            <a:endParaRPr lang="en-US" sz="4400">
              <a:latin typeface="Georgia"/>
              <a:cs typeface="Arial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635240" y="228600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072C19"/>
                </a:solidFill>
                <a:latin typeface="Georgia"/>
                <a:ea typeface="Calibri"/>
                <a:cs typeface="Calibri"/>
              </a:rPr>
              <a:t>EEA / DEFRA EN 590 Standard: 2.68 kg CO₂ per liter of heavy diesel</a:t>
            </a:r>
          </a:p>
        </p:txBody>
      </p:sp>
      <p:sp>
        <p:nvSpPr>
          <p:cNvPr id="29" name="Shape 23"/>
          <p:cNvSpPr/>
          <p:nvPr/>
        </p:nvSpPr>
        <p:spPr>
          <a:xfrm>
            <a:off x="7360920" y="3401568"/>
            <a:ext cx="4325112" cy="2359152"/>
          </a:xfrm>
          <a:prstGeom prst="roundRect">
            <a:avLst>
              <a:gd name="adj" fmla="val 3101"/>
            </a:avLst>
          </a:prstGeom>
          <a:solidFill>
            <a:srgbClr val="184F32"/>
          </a:solidFill>
          <a:ln/>
        </p:spPr>
      </p:sp>
      <p:sp>
        <p:nvSpPr>
          <p:cNvPr id="32" name="Text 25"/>
          <p:cNvSpPr/>
          <p:nvPr/>
        </p:nvSpPr>
        <p:spPr>
          <a:xfrm>
            <a:off x="7635240" y="353110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Sustainability inside the control loop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7571740" y="4069588"/>
            <a:ext cx="39415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Thermal Vulnerability Priority — refrigerated agri-food cargo is prioritized for automated express lanes, preventing spoilage.</a:t>
            </a:r>
          </a:p>
          <a:p>
            <a:pPr>
              <a:lnSpc>
                <a:spcPct val="120000"/>
              </a:lnSpc>
            </a:pPr>
            <a:endParaRPr lang="en-US" sz="1100" dirty="0">
              <a:solidFill>
                <a:srgbClr val="DEFAEA"/>
              </a:solidFill>
              <a:latin typeface="Georgia" panose="02040502050405020303" pitchFamily="18" charset="0"/>
              <a:ea typeface="Calibri"/>
              <a:cs typeface="Calibri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7597140" y="4954524"/>
            <a:ext cx="3941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Audit-Ready ESG Certificates — issues compliance-grade Scope 3 emission records adhering to EU CSRD/CSDDD mandates, generating €10.72 in monetizable carbon credit offset asset value per transit (R.6 Engine @ €80/</a:t>
            </a:r>
            <a:r>
              <a:rPr lang="en-US" sz="1100" dirty="0" err="1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tonne</a:t>
            </a:r>
            <a:r>
              <a:rPr lang="en-US" sz="1100" dirty="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 EU ETS index).</a:t>
            </a:r>
          </a:p>
        </p:txBody>
      </p:sp>
      <p:sp>
        <p:nvSpPr>
          <p:cNvPr id="35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ENVIRONMENTAL MATH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22000">
              <a:srgbClr val="DEFAEA"/>
            </a:gs>
            <a:gs pos="47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09 — DATA PIPELINE &amp; MCP SHADOW MODE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Architecture: Data Pipeline</a:t>
            </a:r>
            <a:endParaRPr lang="en-US" sz="27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&amp; MCP Shadow Mode</a:t>
            </a:r>
            <a:endParaRPr lang="en-US" sz="27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Dorohusk testbed — five stages from physical sensor to AI decision engine.</a:t>
            </a:r>
            <a:endParaRPr lang="en-US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1185855" cy="36576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1752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TECHNICAL MECHANISM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DATA ARTIFACT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11185855" cy="585216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Physical Capture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17520" y="274320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OCR cameras, RFID readers &amp; WIM sensors at the border gate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0" y="274320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Raw hardware signals (plate text, axle weights, queue time)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28416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3328416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Schema Formatting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17520" y="3328416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Edge controller validation &amp; cryptographic privacy guardrail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0" y="3328416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km60-preauth-flow.json (SHA-256 manifest_id_hash)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11185855" cy="585216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13632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88720" y="391363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Secure Transport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017520" y="3913632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Encrypted HTTPS / TLS 1.3 to the central cloud overlay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0" y="391363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POST /v1/telemetry/ingest (Bearer token auth)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4498848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98848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4</a:t>
            </a:r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88720" y="449884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MCP Governance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017520" y="4498848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ITM Platform MCP server enforcement via versioned playbooks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0" y="449884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Read-only context injection into the AI runtime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5084064"/>
            <a:ext cx="11185855" cy="585216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084064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5</a:t>
            </a:r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88720" y="5084064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017520" y="5084064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Executes the unified cost-allocation formula using 20.0 net hours saved, 50 L avoided diesel burn, and 134 kg avoided CO₂ per express transit.</a:t>
            </a:r>
          </a:p>
        </p:txBody>
      </p:sp>
      <p:sp>
        <p:nvSpPr>
          <p:cNvPr id="34" name="Text 32"/>
          <p:cNvSpPr/>
          <p:nvPr/>
        </p:nvSpPr>
        <p:spPr>
          <a:xfrm>
            <a:off x="8229600" y="5084064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Real-time queue financial impact &amp; carbon liability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" y="5888736"/>
            <a:ext cx="111858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Passive, stateless overlay </a:t>
            </a:r>
            <a:r>
              <a:rPr lang="en-US" sz="1600" b="1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6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converts physical border telemetry into anonymized, standardized JSON payloads with zero risk to live border operations.</a:t>
            </a:r>
            <a:endParaRPr lang="en-US" sz="1600">
              <a:solidFill>
                <a:srgbClr val="DEFAEA"/>
              </a:solidFill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10— STAKEHOLDER CANVAS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 Sovereign &amp; Commercial</a:t>
            </a:r>
            <a:endParaRPr lang="en-US" sz="27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Alignment Engine</a:t>
            </a:r>
            <a:endParaRPr lang="en-US" sz="27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Mapping multi-tenant value across public, fleet, corporate and carbon-market ecosystems.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560320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85288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Sovereign Foundations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0752" y="30581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B2G transport ministries &amp; customs agencies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3401568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GIS dashboard overlay to monitor throughput without altering live state databases.</a:t>
            </a: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3986784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R.1 Setup · R.2 SaaS · R.3 Governance retainer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78728" y="2560320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DEFAEA"/>
          </a:solidFill>
          <a:ln/>
        </p:spPr>
      </p:sp>
      <p:sp>
        <p:nvSpPr>
          <p:cNvPr id="15" name="Text 11"/>
          <p:cNvSpPr/>
          <p:nvPr/>
        </p:nvSpPr>
        <p:spPr>
          <a:xfrm>
            <a:off x="6507632" y="274320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Macro-Logistics &amp; Fleets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827368" y="306832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B2B commercial carriers &amp; 3PL operators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507328" y="3401568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Eliminates queue delay hours, recovers driver duty time, prevents asset depreciation.</a:t>
            </a: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507328" y="3986784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R.4 Fast-Lane pre-auth micro-fee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02920" y="4645152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860036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Corporate ESG Mandates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097584" y="514807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Multinational shippers &amp; retail brands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31520" y="548640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Satisfies statutory EU CSDDD Corporate Sustainability Due Diligence via Scope 3 certificates.</a:t>
            </a: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31520" y="6071616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R.5 Green-Credit audit fee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278728" y="4645152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DEFAEA"/>
          </a:solidFill>
          <a:ln/>
        </p:spPr>
      </p:sp>
      <p:sp>
        <p:nvSpPr>
          <p:cNvPr id="29" name="Text 23"/>
          <p:cNvSpPr/>
          <p:nvPr/>
        </p:nvSpPr>
        <p:spPr>
          <a:xfrm>
            <a:off x="6553048" y="4837176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Waste &amp; Carbon Markets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781648" y="512064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Compliance carbon markets / EU ETS buyers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507328" y="548640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Converts reefer diesel mitigation into verified, compliance-grade carbon asset blocks.</a:t>
            </a: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507328" y="6071616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R.6 Carbon offset liquidation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STAKEHOLDER CANVAS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63000">
              <a:schemeClr val="accent1">
                <a:lumMod val="5000"/>
                <a:lumOff val="95000"/>
              </a:schemeClr>
            </a:gs>
            <a:gs pos="67000">
              <a:srgbClr val="DEFAEA"/>
            </a:gs>
            <a:gs pos="18000">
              <a:srgbClr val="42D180"/>
            </a:gs>
            <a:gs pos="0">
              <a:srgbClr val="072C19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11— REVENUE PHASING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Simplified B2G &amp; B2B</a:t>
            </a:r>
            <a:endParaRPr lang="en-US" sz="27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Commercial Architecture</a:t>
            </a:r>
            <a:endParaRPr lang="en-US" sz="27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Isolating low-risk Phase 1 revenue from deferred Phase 2 market scaling.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410048" cy="3794760"/>
          </a:xfrm>
          <a:prstGeom prst="roundRect">
            <a:avLst>
              <a:gd name="adj" fmla="val 1928"/>
            </a:avLst>
          </a:prstGeom>
          <a:solidFill>
            <a:srgbClr val="072C1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43200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PHASE 1  ·  YEARS 1–2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3044952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Fixed Enterprise B2G Revenue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i="1">
                <a:solidFill>
                  <a:srgbClr val="BFF3D5"/>
                </a:solidFill>
                <a:latin typeface="Georgia"/>
                <a:ea typeface="Calibri"/>
                <a:cs typeface="Calibri"/>
              </a:rPr>
              <a:t>100% fixed contractual revenue funding early-stage operational cash flows without volumetric risk.</a:t>
            </a:r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4861408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60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42D180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R.1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25880" y="416052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Setup &amp; Integration Fee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25880" y="4453128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BFF3D5"/>
                </a:solidFill>
                <a:latin typeface="Georgia"/>
                <a:ea typeface="Calibri"/>
                <a:cs typeface="Calibri"/>
              </a:rPr>
              <a:t>€15,000 one-time</a:t>
            </a:r>
            <a:endParaRPr lang="en-US" sz="1100" dirty="0">
              <a:latin typeface="Georgia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4818888"/>
            <a:ext cx="4861408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10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42D180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R.2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4910328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Annual B2G SaaS License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5880" y="5202936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BFF3D5"/>
                </a:solidFill>
                <a:latin typeface="Consolas"/>
                <a:ea typeface="Calibri"/>
                <a:cs typeface="Calibri"/>
              </a:rPr>
              <a:t>€25,000 / year (Pilot Rate).</a:t>
            </a:r>
            <a:r>
              <a:rPr lang="en-US" sz="1100" dirty="0">
                <a:solidFill>
                  <a:srgbClr val="BFF3D5"/>
                </a:solidFill>
                <a:ea typeface="+mn-lt"/>
                <a:cs typeface="+mn-lt"/>
              </a:rPr>
              <a:t>  </a:t>
            </a:r>
            <a:r>
              <a:rPr lang="en-US" sz="1100" dirty="0">
                <a:solidFill>
                  <a:srgbClr val="BFF3D5"/>
                </a:solidFill>
                <a:latin typeface="Consolas"/>
                <a:ea typeface="Calibri"/>
                <a:cs typeface="Calibri"/>
              </a:rPr>
              <a:t>€60,000 / year Base</a:t>
            </a:r>
          </a:p>
        </p:txBody>
      </p:sp>
      <p:sp>
        <p:nvSpPr>
          <p:cNvPr id="17" name="Shape 15"/>
          <p:cNvSpPr/>
          <p:nvPr/>
        </p:nvSpPr>
        <p:spPr>
          <a:xfrm>
            <a:off x="777240" y="5568696"/>
            <a:ext cx="4861408" cy="0"/>
          </a:xfrm>
          <a:prstGeom prst="line">
            <a:avLst/>
          </a:prstGeom>
          <a:noFill/>
          <a:ln w="12700">
            <a:solidFill>
              <a:srgbClr val="1B6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601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42D180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R.3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25880" y="5660136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Governance &amp; Maintenance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25880" y="5952744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BFF3D5"/>
                </a:solidFill>
                <a:latin typeface="Georgia"/>
                <a:ea typeface="Calibri"/>
                <a:cs typeface="Calibri"/>
              </a:rPr>
              <a:t>€5,000 </a:t>
            </a:r>
            <a:r>
              <a:rPr lang="en-US" sz="1100" dirty="0">
                <a:solidFill>
                  <a:srgbClr val="BFF3D5"/>
                </a:solidFill>
                <a:latin typeface="Consolas"/>
                <a:ea typeface="Calibri"/>
                <a:cs typeface="Calibri"/>
              </a:rPr>
              <a:t>/ year (Pilot Rate).</a:t>
            </a:r>
            <a:r>
              <a:rPr lang="en-US" sz="1100" dirty="0">
                <a:solidFill>
                  <a:srgbClr val="BFF3D5"/>
                </a:solidFill>
                <a:ea typeface="+mn-lt"/>
                <a:cs typeface="+mn-lt"/>
              </a:rPr>
              <a:t>  </a:t>
            </a:r>
            <a:r>
              <a:rPr lang="en-US" sz="1100" dirty="0">
                <a:solidFill>
                  <a:srgbClr val="BFF3D5"/>
                </a:solidFill>
                <a:latin typeface="Consolas"/>
                <a:ea typeface="Calibri"/>
                <a:cs typeface="Calibri"/>
              </a:rPr>
              <a:t>€7,200 / year Base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78728" y="2514600"/>
            <a:ext cx="5410048" cy="3794760"/>
          </a:xfrm>
          <a:prstGeom prst="roundRect">
            <a:avLst>
              <a:gd name="adj" fmla="val 1928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3048" y="2743200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1E9B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PHASE 2  ·  YEARS 3+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53048" y="3044952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Volumetric Market Scaling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53048" y="342900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Deferred, speculative revenue unlocked only after live fleet onboarding &amp; MRV accreditation.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53048" y="4069080"/>
            <a:ext cx="4861408" cy="0"/>
          </a:xfrm>
          <a:prstGeom prst="line">
            <a:avLst/>
          </a:prstGeom>
          <a:noFill/>
          <a:ln w="12700">
            <a:solidFill>
              <a:srgbClr val="E3F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3048" y="4160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9B55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R.4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01688" y="416052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Fast-Lane Transaction Fee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01688" y="4453128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€15.00 / cleared transit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53048" y="4818888"/>
            <a:ext cx="4861408" cy="0"/>
          </a:xfrm>
          <a:prstGeom prst="line">
            <a:avLst/>
          </a:prstGeom>
          <a:noFill/>
          <a:ln w="12700">
            <a:solidFill>
              <a:srgbClr val="E3F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048" y="4910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9B55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R.5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01688" y="4910328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Green-Credit ESG Audit Fee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01688" y="5202936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€2.50 / compliance certificate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53048" y="5568696"/>
            <a:ext cx="4861408" cy="0"/>
          </a:xfrm>
          <a:prstGeom prst="line">
            <a:avLst/>
          </a:prstGeom>
          <a:noFill/>
          <a:ln w="12700">
            <a:solidFill>
              <a:srgbClr val="E3F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3048" y="56601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9B55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R.6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101688" y="5660136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Certified Carbon Credit Trading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01688" y="5952744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€10.72 / transit monetized carbon offset value</a:t>
            </a:r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REVENUE PHASING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12 — SWOT ANALYSIS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Architectural Moats &amp;</a:t>
            </a:r>
            <a:endParaRPr lang="en-US" sz="27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Environmental Dynamics</a:t>
            </a:r>
            <a:endParaRPr lang="en-US" sz="27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Evaluating internal system capabilities against external market realities.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560320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430" y="2688336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400" dirty="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3232404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• Multi-sided revenue model (R.1–R.6) yielding €688.6k/year per hub in Year 3 at an 85.13% commercial EBITDA margin.</a:t>
            </a:r>
          </a:p>
        </p:txBody>
      </p:sp>
      <p:sp>
        <p:nvSpPr>
          <p:cNvPr id="10" name="Text 7"/>
          <p:cNvSpPr/>
          <p:nvPr/>
        </p:nvSpPr>
        <p:spPr>
          <a:xfrm>
            <a:off x="810260" y="3485388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endParaRPr lang="en-US" sz="950">
              <a:solidFill>
                <a:srgbClr val="5B7566"/>
              </a:solidFill>
              <a:latin typeface="Georgia"/>
              <a:ea typeface="Calibri"/>
              <a:cs typeface="Calibri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•  Open MCP protocol prevents vendor lock-in</a:t>
            </a:r>
            <a:endParaRPr lang="en-US" sz="950">
              <a:latin typeface="Georgia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" y="3890772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Asset-light middleware in a passive shadow sandbox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78728" y="2560320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51238" y="2688336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2400" dirty="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735928" y="3236976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Early dependence on sovereign procurement sign-off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735928" y="3566160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Conservative 5% sandbox traffic cap in Phase 1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735928" y="3895344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Formulaic dependence on continuous edge telemetry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02920" y="4645152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75430" y="477316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2400" dirty="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26517" y="5321808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Mandatory EU Scope 3 reporting (CSDDD / CSRD)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26517" y="5650992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Multilateral development bank corridor funding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26517" y="5980176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Horizontal expansion to sea ports &amp; EU borders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278728" y="4645152"/>
            <a:ext cx="5410048" cy="1810512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51238" y="477316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240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735928" y="5303520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EU ETS carbon price volatility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735928" y="5632704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Geopolitical shifts in freight corridor volumes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735928" y="5961888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Maintenance outages on sovereign edge hardware</a:t>
            </a:r>
            <a:endParaRPr lang="en-US" sz="970">
              <a:latin typeface="Georgia" panose="02040502050405020303" pitchFamily="18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10975543" y="6309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28000">
              <a:srgbClr val="DEFAEA"/>
            </a:gs>
            <a:gs pos="77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13 — RISK MATRIX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36676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Risk Neutralization &amp;</a:t>
            </a:r>
            <a:endParaRPr lang="en-US" sz="26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Defensive Architectural Moats</a:t>
            </a:r>
            <a:endParaRPr lang="en-US" sz="26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385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Proactively neutralizing operational, technical and governance risks.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450592"/>
            <a:ext cx="11185855" cy="36576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505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RISK CATEGORY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46320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SEVERITY / LIKELIHOOD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0" y="245059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MITIGATION PROTOCOL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11185855" cy="54864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163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Data Quality &amp; Sensor Noise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28163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Medium / High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75120" y="2816352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Fuzzy-logic OCR matching + ±2.5% WIM tolerance buffer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364992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649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Regulatory &amp; Governance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33649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High / Medium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3364992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Non-binding decision support — officers retain full veto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11185855" cy="54864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136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Cybersecurity &amp; Systems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39136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High / Low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75120" y="3913632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Passive Shadow Mode sandbox, isolated from live databases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4462272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622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Financial &amp; Market Adoption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Medium / Low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0" y="4462272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100% Phase 1 fixed B2G fees — zero volumetric risk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5239512"/>
            <a:ext cx="11185855" cy="1234440"/>
          </a:xfrm>
          <a:prstGeom prst="roundRect">
            <a:avLst>
              <a:gd name="adj" fmla="val 4444"/>
            </a:avLst>
          </a:prstGeom>
          <a:solidFill>
            <a:srgbClr val="184F3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492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50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SWOT STRATEGIC CROSS-LINKAGES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5678424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Political Protection (S→T): R.3 governance retainers anchor to MDB anti-corruption mandates.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83938" y="5678424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Revenue Insulation (O→W): mandatory CSDDD reporting funds high-margin R.5 ESG audit fees.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036357" y="5678424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Zero Churn (S→T): read-only schema locks into edge sensors, making switching costly for states.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14 — EVIDENCE BASE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Fully Traceable</a:t>
            </a:r>
            <a:endParaRPr lang="en-US" sz="26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Peer-Reviewed Model Baseline</a:t>
            </a:r>
            <a:endParaRPr lang="en-US" sz="26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385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Key model variables linked to recognized international sources.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11185855" cy="36576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MODEL VARIABLE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2336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BASELINE VALUE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92240" y="242316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11185855" cy="530352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Operational Baseline</a:t>
            </a:r>
            <a:endParaRPr lang="en-US" sz="1050" b="1">
              <a:solidFill>
                <a:srgbClr val="10201A"/>
              </a:solidFill>
              <a:latin typeface="Georgia" panose="02040502050405020303" pitchFamily="18" charset="0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278892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20.50 hours</a:t>
            </a:r>
            <a:endParaRPr lang="en-US" sz="1050">
              <a:latin typeface="Georgia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ZMPD / Polish Border Guard Telemetry (2025–2026)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1118585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192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Reefer Fuel Burn Rate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23360" y="331927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2.50 L / hour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2240" y="3319272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Thermo King Technical Specs (SB-210 Series)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849624"/>
            <a:ext cx="11185855" cy="530352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962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Diesel CO₂ Factor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384962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2.68 kg CO₂ / L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0" y="3849624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European Environment Agency (EEA) / DEFRA (2025)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4379976"/>
            <a:ext cx="1118585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7997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Carbon Price Index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23360" y="437997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€80.00 / tonne CO₂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92240" y="4379976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Intercontinental Exchange (ICE) EU ETS Futures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4910328"/>
            <a:ext cx="11185855" cy="530352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91032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Decision Engine Latency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23360" y="49103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92240" y="4910328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Module 1 Automated Test Suite (sandbox.test.js)</a:t>
            </a:r>
            <a:endParaRPr lang="en-US" sz="1050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66928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DEFAE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6692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>
                <a:solidFill>
                  <a:srgbClr val="184F32"/>
                </a:solidFill>
                <a:latin typeface="Georgia"/>
                <a:ea typeface="Calibri"/>
                <a:cs typeface="Calibri"/>
              </a:rPr>
              <a:t>Academic rigor &amp; limitations  </a:t>
            </a:r>
            <a:r>
              <a:rPr lang="en-US" sz="1100">
                <a:solidFill>
                  <a:srgbClr val="184F32"/>
                </a:solidFill>
                <a:latin typeface="Georgia"/>
                <a:ea typeface="Calibri"/>
                <a:cs typeface="Calibri"/>
              </a:rPr>
              <a:t>— environmental factors align strictly with IPCC Tier 1 defaults. Direct CAN-bus telemetry is deferred to Phase 2; Phase 1 models fuel burn from </a:t>
            </a:r>
            <a:r>
              <a:rPr lang="en-US" sz="1100" err="1">
                <a:solidFill>
                  <a:srgbClr val="184F32"/>
                </a:solidFill>
                <a:latin typeface="Georgia"/>
                <a:ea typeface="Calibri"/>
                <a:cs typeface="Calibri"/>
              </a:rPr>
              <a:t>Thermo</a:t>
            </a:r>
            <a:r>
              <a:rPr lang="en-US" sz="1100">
                <a:solidFill>
                  <a:srgbClr val="184F32"/>
                </a:solidFill>
                <a:latin typeface="Georgia"/>
                <a:ea typeface="Calibri"/>
                <a:cs typeface="Calibri"/>
              </a:rPr>
              <a:t> King thermal specs.</a:t>
            </a:r>
          </a:p>
          <a:p>
            <a:pPr>
              <a:lnSpc>
                <a:spcPct val="125000"/>
              </a:lnSpc>
            </a:pPr>
            <a:r>
              <a:rPr lang="en-US" sz="1100" i="1">
                <a:solidFill>
                  <a:srgbClr val="184F32"/>
                </a:solidFill>
                <a:ea typeface="+mn-lt"/>
                <a:cs typeface="+mn-lt"/>
              </a:rPr>
              <a:t>(Peak queue spikes reach 42.5 </a:t>
            </a:r>
            <a:r>
              <a:rPr lang="en-US" sz="1100" i="1" err="1">
                <a:solidFill>
                  <a:srgbClr val="184F32"/>
                </a:solidFill>
                <a:ea typeface="+mn-lt"/>
                <a:cs typeface="+mn-lt"/>
              </a:rPr>
              <a:t>hrs</a:t>
            </a:r>
            <a:r>
              <a:rPr lang="en-US" sz="1100" i="1">
                <a:solidFill>
                  <a:srgbClr val="184F32"/>
                </a:solidFill>
                <a:ea typeface="+mn-lt"/>
                <a:cs typeface="+mn-lt"/>
              </a:rPr>
              <a:t> during blockade events)</a:t>
            </a:r>
            <a:r>
              <a:rPr lang="en-US" sz="1100">
                <a:solidFill>
                  <a:srgbClr val="184F32"/>
                </a:solidFill>
                <a:ea typeface="+mn-lt"/>
                <a:cs typeface="+mn-lt"/>
              </a:rPr>
              <a:t>. </a:t>
            </a:r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6583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29000">
              <a:srgbClr val="DEFAEA"/>
            </a:gs>
            <a:gs pos="4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84F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2D180"/>
                </a:solidFill>
                <a:latin typeface="Georgia"/>
                <a:ea typeface="Calibri"/>
                <a:cs typeface="Calibri"/>
              </a:rPr>
              <a:t>15— UNIT ECONOMICS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Unassailable</a:t>
            </a:r>
            <a:endParaRPr lang="en-US" sz="30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Customer Value</a:t>
            </a:r>
            <a:endParaRPr lang="en-US" sz="300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50" i="1">
                <a:solidFill>
                  <a:srgbClr val="BFF3D5"/>
                </a:solidFill>
                <a:latin typeface="Georgia"/>
                <a:ea typeface="Calibri"/>
                <a:cs typeface="Calibri"/>
              </a:rPr>
              <a:t>Pay €15.00 fast-lane token fee to recover €1,183.50 in avoidable operational loss per express transit.</a:t>
            </a:r>
            <a:endParaRPr lang="en-US" sz="1250">
              <a:latin typeface="Georgia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0" b="1">
                <a:solidFill>
                  <a:srgbClr val="FFFFFF"/>
                </a:solidFill>
                <a:latin typeface="Georgia"/>
                <a:cs typeface="Arial"/>
              </a:rPr>
              <a:t>79x</a:t>
            </a:r>
            <a:endParaRPr lang="en-US" sz="10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5120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INSTANT FLEET ROI</a:t>
            </a:r>
            <a:endParaRPr lang="en-US" sz="1400">
              <a:solidFill>
                <a:srgbClr val="DEFAEA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32120" y="6858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VALUE RECOVERED PER EXPRESS TRANSIT</a:t>
            </a:r>
            <a:endParaRPr lang="en-US" sz="110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532120" y="1051560"/>
            <a:ext cx="6172200" cy="685800"/>
          </a:xfrm>
          <a:prstGeom prst="roundRect">
            <a:avLst>
              <a:gd name="adj" fmla="val 8000"/>
            </a:avLst>
          </a:prstGeom>
          <a:solidFill>
            <a:srgbClr val="072C19"/>
          </a:solidFill>
          <a:ln w="12700">
            <a:solidFill>
              <a:srgbClr val="1B6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0515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Recovered Driver Wages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92640" y="1051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€637.50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32120" y="1874520"/>
            <a:ext cx="6172200" cy="685800"/>
          </a:xfrm>
          <a:prstGeom prst="roundRect">
            <a:avLst>
              <a:gd name="adj" fmla="val 8000"/>
            </a:avLst>
          </a:prstGeom>
          <a:solidFill>
            <a:srgbClr val="072C19"/>
          </a:solidFill>
          <a:ln w="12700">
            <a:solidFill>
              <a:srgbClr val="1B6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874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Avoided Asset Depreciation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92640" y="1874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€300.00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532120" y="2697480"/>
            <a:ext cx="6172200" cy="685800"/>
          </a:xfrm>
          <a:prstGeom prst="roundRect">
            <a:avLst>
              <a:gd name="adj" fmla="val 8000"/>
            </a:avLst>
          </a:prstGeom>
          <a:solidFill>
            <a:srgbClr val="072C19"/>
          </a:solidFill>
          <a:ln w="12700">
            <a:solidFill>
              <a:srgbClr val="1B6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Saved Reefer Diesel (50 L)</a:t>
            </a:r>
            <a:endParaRPr lang="en-US" sz="1600">
              <a:latin typeface="Georgia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9264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€75.00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532120" y="3520440"/>
            <a:ext cx="6172200" cy="685800"/>
          </a:xfrm>
          <a:prstGeom prst="roundRect">
            <a:avLst>
              <a:gd name="adj" fmla="val 8000"/>
            </a:avLst>
          </a:prstGeom>
          <a:solidFill>
            <a:srgbClr val="072C19"/>
          </a:solidFill>
          <a:ln w="12700">
            <a:solidFill>
              <a:srgbClr val="1B6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EFAE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Prevented Spoilage Risk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9264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€171.00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532120" y="4389120"/>
            <a:ext cx="6172200" cy="868680"/>
          </a:xfrm>
          <a:prstGeom prst="roundRect">
            <a:avLst>
              <a:gd name="adj" fmla="val 6316"/>
            </a:avLst>
          </a:prstGeom>
          <a:solidFill>
            <a:srgbClr val="42D180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4389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>
                <a:solidFill>
                  <a:srgbClr val="072C19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TOTAL VALUE RECOVERED</a:t>
            </a:r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4389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072C19"/>
                </a:solidFill>
                <a:latin typeface="Georgia"/>
                <a:ea typeface="Arial" pitchFamily="34" charset="-122"/>
                <a:cs typeface="Arial"/>
              </a:rPr>
              <a:t>€1,183.50</a:t>
            </a:r>
            <a:endParaRPr lang="en-US" sz="200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16575" y="537667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00" i="1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vs. €15.00 fast-lane token fee (R.4) — commercial fleets adopt eagerly; sovereign agencies modernize without public CapEx.</a:t>
            </a:r>
            <a:endParaRPr lang="en-US" sz="12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CE9B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 - Master Parameter Index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16 — MASTER PARAMETER INDEX</a:t>
            </a:r>
          </a:p>
        </p:txBody>
      </p:sp>
      <p:sp>
        <p:nvSpPr>
          <p:cNvPr id="4" name="Text 4"/>
          <p:cNvSpPr/>
          <p:nvPr/>
        </p:nvSpPr>
        <p:spPr>
          <a:xfrm>
            <a:off x="502920" y="836676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Executive Master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Parameter Index</a:t>
            </a:r>
          </a:p>
        </p:txBody>
      </p:sp>
      <p:sp>
        <p:nvSpPr>
          <p:cNvPr id="5" name="Text 5"/>
          <p:cNvSpPr/>
          <p:nvPr/>
        </p:nvSpPr>
        <p:spPr>
          <a:xfrm>
            <a:off x="502920" y="1938528"/>
            <a:ext cx="9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Every audited assumption underpinning the locked financial model, in one traceable reference.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2423160"/>
            <a:ext cx="11185854" cy="36576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7" name="Text 7"/>
          <p:cNvSpPr/>
          <p:nvPr/>
        </p:nvSpPr>
        <p:spPr>
          <a:xfrm>
            <a:off x="640080" y="2423160"/>
            <a:ext cx="366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PARAMETER</a:t>
            </a:r>
          </a:p>
        </p:txBody>
      </p:sp>
      <p:sp>
        <p:nvSpPr>
          <p:cNvPr id="8" name="Text 8"/>
          <p:cNvSpPr/>
          <p:nvPr/>
        </p:nvSpPr>
        <p:spPr>
          <a:xfrm>
            <a:off x="4440080" y="2423160"/>
            <a:ext cx="1655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VALUE</a:t>
            </a:r>
          </a:p>
        </p:txBody>
      </p:sp>
      <p:sp>
        <p:nvSpPr>
          <p:cNvPr id="9" name="Text 9"/>
          <p:cNvSpPr/>
          <p:nvPr/>
        </p:nvSpPr>
        <p:spPr>
          <a:xfrm>
            <a:off x="6233007" y="2423160"/>
            <a:ext cx="366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PARAMETER</a:t>
            </a:r>
          </a:p>
        </p:txBody>
      </p:sp>
      <p:sp>
        <p:nvSpPr>
          <p:cNvPr id="10" name="Text 10"/>
          <p:cNvSpPr/>
          <p:nvPr/>
        </p:nvSpPr>
        <p:spPr>
          <a:xfrm>
            <a:off x="10033007" y="2423160"/>
            <a:ext cx="1655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VALUE</a:t>
            </a:r>
          </a:p>
        </p:txBody>
      </p:sp>
      <p:sp>
        <p:nvSpPr>
          <p:cNvPr id="11" name="Shape 11"/>
          <p:cNvSpPr/>
          <p:nvPr/>
        </p:nvSpPr>
        <p:spPr>
          <a:xfrm>
            <a:off x="502920" y="2788920"/>
            <a:ext cx="11185854" cy="46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640080" y="278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Baseline Daily Corridor Traffic</a:t>
            </a:r>
          </a:p>
        </p:txBody>
      </p:sp>
      <p:sp>
        <p:nvSpPr>
          <p:cNvPr id="13" name="Text 13"/>
          <p:cNvSpPr/>
          <p:nvPr/>
        </p:nvSpPr>
        <p:spPr>
          <a:xfrm>
            <a:off x="4440080" y="278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1,200 trucks/day</a:t>
            </a:r>
          </a:p>
        </p:txBody>
      </p:sp>
      <p:sp>
        <p:nvSpPr>
          <p:cNvPr id="14" name="Text 14"/>
          <p:cNvSpPr/>
          <p:nvPr/>
        </p:nvSpPr>
        <p:spPr>
          <a:xfrm>
            <a:off x="6233007" y="278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Uncoordinated Delay Time</a:t>
            </a:r>
          </a:p>
        </p:txBody>
      </p:sp>
      <p:sp>
        <p:nvSpPr>
          <p:cNvPr id="15" name="Text 15"/>
          <p:cNvSpPr/>
          <p:nvPr/>
        </p:nvSpPr>
        <p:spPr>
          <a:xfrm>
            <a:off x="10033007" y="278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20.5 hrs/transit</a:t>
            </a:r>
          </a:p>
        </p:txBody>
      </p:sp>
      <p:sp>
        <p:nvSpPr>
          <p:cNvPr id="16" name="Shape 16"/>
          <p:cNvSpPr/>
          <p:nvPr/>
        </p:nvSpPr>
        <p:spPr>
          <a:xfrm>
            <a:off x="502920" y="3248920"/>
            <a:ext cx="11185854" cy="4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640080" y="324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Digital Twin Fast-Lane Pass Time</a:t>
            </a:r>
          </a:p>
        </p:txBody>
      </p:sp>
      <p:sp>
        <p:nvSpPr>
          <p:cNvPr id="18" name="Text 18"/>
          <p:cNvSpPr/>
          <p:nvPr/>
        </p:nvSpPr>
        <p:spPr>
          <a:xfrm>
            <a:off x="4440080" y="324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0.5 hrs/transit</a:t>
            </a:r>
          </a:p>
        </p:txBody>
      </p:sp>
      <p:sp>
        <p:nvSpPr>
          <p:cNvPr id="19" name="Text 19"/>
          <p:cNvSpPr/>
          <p:nvPr/>
        </p:nvSpPr>
        <p:spPr>
          <a:xfrm>
            <a:off x="6233007" y="324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Net Avoided Delay</a:t>
            </a:r>
          </a:p>
        </p:txBody>
      </p:sp>
      <p:sp>
        <p:nvSpPr>
          <p:cNvPr id="20" name="Text 20"/>
          <p:cNvSpPr/>
          <p:nvPr/>
        </p:nvSpPr>
        <p:spPr>
          <a:xfrm>
            <a:off x="10033007" y="324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20.0 hrs saved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3708920"/>
            <a:ext cx="11185854" cy="46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640080" y="370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Avoided Fuel Burn per Transit</a:t>
            </a:r>
          </a:p>
        </p:txBody>
      </p:sp>
      <p:sp>
        <p:nvSpPr>
          <p:cNvPr id="23" name="Text 23"/>
          <p:cNvSpPr/>
          <p:nvPr/>
        </p:nvSpPr>
        <p:spPr>
          <a:xfrm>
            <a:off x="4440080" y="370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50.0 L</a:t>
            </a:r>
          </a:p>
        </p:txBody>
      </p:sp>
      <p:sp>
        <p:nvSpPr>
          <p:cNvPr id="24" name="Text 24"/>
          <p:cNvSpPr/>
          <p:nvPr/>
        </p:nvSpPr>
        <p:spPr>
          <a:xfrm>
            <a:off x="6233007" y="370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Net Avoided CO₂ per Transit</a:t>
            </a:r>
          </a:p>
        </p:txBody>
      </p:sp>
      <p:sp>
        <p:nvSpPr>
          <p:cNvPr id="25" name="Text 25"/>
          <p:cNvSpPr/>
          <p:nvPr/>
        </p:nvSpPr>
        <p:spPr>
          <a:xfrm>
            <a:off x="10033007" y="370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0.134 t (134.0 kg)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" y="4168920"/>
            <a:ext cx="11185854" cy="4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640080" y="416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R.6 — EU ETS Carbon Price Index</a:t>
            </a:r>
          </a:p>
        </p:txBody>
      </p:sp>
      <p:sp>
        <p:nvSpPr>
          <p:cNvPr id="28" name="Text 28"/>
          <p:cNvSpPr/>
          <p:nvPr/>
        </p:nvSpPr>
        <p:spPr>
          <a:xfrm>
            <a:off x="4440080" y="416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€80.00 / tonne</a:t>
            </a:r>
          </a:p>
        </p:txBody>
      </p:sp>
      <p:sp>
        <p:nvSpPr>
          <p:cNvPr id="29" name="Text 29"/>
          <p:cNvSpPr/>
          <p:nvPr/>
        </p:nvSpPr>
        <p:spPr>
          <a:xfrm>
            <a:off x="6233007" y="416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R.1 — Upfront Integration Fee</a:t>
            </a:r>
          </a:p>
        </p:txBody>
      </p:sp>
      <p:sp>
        <p:nvSpPr>
          <p:cNvPr id="30" name="Text 30"/>
          <p:cNvSpPr/>
          <p:nvPr/>
        </p:nvSpPr>
        <p:spPr>
          <a:xfrm>
            <a:off x="10033007" y="416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€15,000 one-time</a:t>
            </a:r>
          </a:p>
        </p:txBody>
      </p:sp>
      <p:sp>
        <p:nvSpPr>
          <p:cNvPr id="31" name="Shape 31"/>
          <p:cNvSpPr/>
          <p:nvPr/>
        </p:nvSpPr>
        <p:spPr>
          <a:xfrm>
            <a:off x="502920" y="4628920"/>
            <a:ext cx="11185854" cy="46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32" name="Text 32"/>
          <p:cNvSpPr/>
          <p:nvPr/>
        </p:nvSpPr>
        <p:spPr>
          <a:xfrm>
            <a:off x="640080" y="462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R.2 — Annual SaaS License (Pilot → Base)</a:t>
            </a:r>
          </a:p>
        </p:txBody>
      </p:sp>
      <p:sp>
        <p:nvSpPr>
          <p:cNvPr id="33" name="Text 33"/>
          <p:cNvSpPr/>
          <p:nvPr/>
        </p:nvSpPr>
        <p:spPr>
          <a:xfrm>
            <a:off x="4440080" y="462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€25,000 → €60,000/yr</a:t>
            </a:r>
          </a:p>
        </p:txBody>
      </p:sp>
      <p:sp>
        <p:nvSpPr>
          <p:cNvPr id="34" name="Text 34"/>
          <p:cNvSpPr/>
          <p:nvPr/>
        </p:nvSpPr>
        <p:spPr>
          <a:xfrm>
            <a:off x="6233007" y="462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R.3 — Governance Retainer (Pilot → Base)</a:t>
            </a:r>
          </a:p>
        </p:txBody>
      </p:sp>
      <p:sp>
        <p:nvSpPr>
          <p:cNvPr id="35" name="Text 35"/>
          <p:cNvSpPr/>
          <p:nvPr/>
        </p:nvSpPr>
        <p:spPr>
          <a:xfrm>
            <a:off x="10033007" y="462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€5,000 → €7,200/yr</a:t>
            </a:r>
          </a:p>
        </p:txBody>
      </p:sp>
      <p:sp>
        <p:nvSpPr>
          <p:cNvPr id="36" name="Shape 36"/>
          <p:cNvSpPr/>
          <p:nvPr/>
        </p:nvSpPr>
        <p:spPr>
          <a:xfrm>
            <a:off x="502920" y="5088920"/>
            <a:ext cx="11185854" cy="4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37" name="Text 37"/>
          <p:cNvSpPr/>
          <p:nvPr/>
        </p:nvSpPr>
        <p:spPr>
          <a:xfrm>
            <a:off x="640080" y="508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Cost of Debt (Kd) — WACC Hurdle Rate</a:t>
            </a:r>
          </a:p>
        </p:txBody>
      </p:sp>
      <p:sp>
        <p:nvSpPr>
          <p:cNvPr id="38" name="Text 38"/>
          <p:cNvSpPr/>
          <p:nvPr/>
        </p:nvSpPr>
        <p:spPr>
          <a:xfrm>
            <a:off x="4440080" y="508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4.5%</a:t>
            </a:r>
          </a:p>
        </p:txBody>
      </p:sp>
      <p:sp>
        <p:nvSpPr>
          <p:cNvPr id="39" name="Text 39"/>
          <p:cNvSpPr/>
          <p:nvPr/>
        </p:nvSpPr>
        <p:spPr>
          <a:xfrm>
            <a:off x="6233007" y="508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Corporate Tax Rate</a:t>
            </a:r>
          </a:p>
        </p:txBody>
      </p:sp>
      <p:sp>
        <p:nvSpPr>
          <p:cNvPr id="40" name="Text 40"/>
          <p:cNvSpPr/>
          <p:nvPr/>
        </p:nvSpPr>
        <p:spPr>
          <a:xfrm>
            <a:off x="10033007" y="508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15%</a:t>
            </a:r>
          </a:p>
        </p:txBody>
      </p:sp>
      <p:sp>
        <p:nvSpPr>
          <p:cNvPr id="41" name="Shape 41"/>
          <p:cNvSpPr/>
          <p:nvPr/>
        </p:nvSpPr>
        <p:spPr>
          <a:xfrm>
            <a:off x="502920" y="5548920"/>
            <a:ext cx="11185854" cy="46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42" name="Text 42"/>
          <p:cNvSpPr/>
          <p:nvPr/>
        </p:nvSpPr>
        <p:spPr>
          <a:xfrm>
            <a:off x="640080" y="554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Seed Grant + Public Grants (Yr 0–1)</a:t>
            </a:r>
          </a:p>
        </p:txBody>
      </p:sp>
      <p:sp>
        <p:nvSpPr>
          <p:cNvPr id="43" name="Text 43"/>
          <p:cNvSpPr/>
          <p:nvPr/>
        </p:nvSpPr>
        <p:spPr>
          <a:xfrm>
            <a:off x="4440080" y="554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€56,000 non-dilutive</a:t>
            </a:r>
          </a:p>
        </p:txBody>
      </p:sp>
      <p:sp>
        <p:nvSpPr>
          <p:cNvPr id="44" name="Text 44"/>
          <p:cNvSpPr/>
          <p:nvPr/>
        </p:nvSpPr>
        <p:spPr>
          <a:xfrm>
            <a:off x="6233007" y="5548920"/>
            <a:ext cx="36628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Soft Debt Facility</a:t>
            </a:r>
          </a:p>
        </p:txBody>
      </p:sp>
      <p:sp>
        <p:nvSpPr>
          <p:cNvPr id="45" name="Text 45"/>
          <p:cNvSpPr/>
          <p:nvPr/>
        </p:nvSpPr>
        <p:spPr>
          <a:xfrm>
            <a:off x="10033007" y="5548920"/>
            <a:ext cx="16557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€50,000</a:t>
            </a:r>
          </a:p>
        </p:txBody>
      </p:sp>
      <p:sp>
        <p:nvSpPr>
          <p:cNvPr id="46" name="Text 46"/>
          <p:cNvSpPr/>
          <p:nvPr/>
        </p:nvSpPr>
        <p:spPr>
          <a:xfrm>
            <a:off x="502920" y="6068920"/>
            <a:ext cx="11185855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Full 30-parameter model, debt amortization schedule and audit trail available in the companion Excel workbook.</a:t>
            </a:r>
          </a:p>
        </p:txBody>
      </p:sp>
      <p:sp>
        <p:nvSpPr>
          <p:cNvPr id="47" name="Text 47"/>
          <p:cNvSpPr/>
          <p:nvPr/>
        </p:nvSpPr>
        <p:spPr>
          <a:xfrm>
            <a:off x="502920" y="6583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MASTER PARAMETER INDEX</a:t>
            </a:r>
          </a:p>
        </p:txBody>
      </p:sp>
      <p:sp>
        <p:nvSpPr>
          <p:cNvPr id="48" name="Text 4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 - Financial Highlights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17 — FINANCIAL HIGHLIGHTS</a:t>
            </a:r>
          </a:p>
        </p:txBody>
      </p:sp>
      <p:sp>
        <p:nvSpPr>
          <p:cNvPr id="4" name="Text 4"/>
          <p:cNvSpPr/>
          <p:nvPr/>
        </p:nvSpPr>
        <p:spPr>
          <a:xfrm>
            <a:off x="502920" y="836676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Commercial Revenue &amp;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Profitability Ramp</a:t>
            </a:r>
          </a:p>
        </p:txBody>
      </p:sp>
      <p:sp>
        <p:nvSpPr>
          <p:cNvPr id="5" name="Text 5"/>
          <p:cNvSpPr/>
          <p:nvPr/>
        </p:nvSpPr>
        <p:spPr>
          <a:xfrm>
            <a:off x="502920" y="1938528"/>
            <a:ext cx="9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Audited P&amp;L trajectory as the model scales from Year 1 Pilot to Year 3 full Commercial deployment.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2423160"/>
            <a:ext cx="6900000" cy="40000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7" name="Text 7"/>
          <p:cNvSpPr/>
          <p:nvPr/>
        </p:nvSpPr>
        <p:spPr>
          <a:xfrm>
            <a:off x="640080" y="2423160"/>
            <a:ext cx="2862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METRIC</a:t>
            </a:r>
          </a:p>
        </p:txBody>
      </p:sp>
      <p:sp>
        <p:nvSpPr>
          <p:cNvPr id="8" name="Text 8"/>
          <p:cNvSpPr/>
          <p:nvPr/>
        </p:nvSpPr>
        <p:spPr>
          <a:xfrm>
            <a:off x="3640080" y="2423160"/>
            <a:ext cx="1162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YEAR 1</a:t>
            </a:r>
          </a:p>
        </p:txBody>
      </p:sp>
      <p:sp>
        <p:nvSpPr>
          <p:cNvPr id="9" name="Text 9"/>
          <p:cNvSpPr/>
          <p:nvPr/>
        </p:nvSpPr>
        <p:spPr>
          <a:xfrm>
            <a:off x="4940080" y="2423160"/>
            <a:ext cx="1162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YEAR 2</a:t>
            </a:r>
          </a:p>
        </p:txBody>
      </p:sp>
      <p:sp>
        <p:nvSpPr>
          <p:cNvPr id="10" name="Text 10"/>
          <p:cNvSpPr/>
          <p:nvPr/>
        </p:nvSpPr>
        <p:spPr>
          <a:xfrm>
            <a:off x="6240080" y="2423160"/>
            <a:ext cx="1162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YEAR 3</a:t>
            </a:r>
          </a:p>
        </p:txBody>
      </p:sp>
      <p:sp>
        <p:nvSpPr>
          <p:cNvPr id="11" name="Shape 11"/>
          <p:cNvSpPr/>
          <p:nvPr/>
        </p:nvSpPr>
        <p:spPr>
          <a:xfrm>
            <a:off x="502920" y="2823160"/>
            <a:ext cx="6900000" cy="530352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640080" y="2823160"/>
            <a:ext cx="28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Total Commercial Revenue</a:t>
            </a:r>
          </a:p>
        </p:txBody>
      </p:sp>
      <p:sp>
        <p:nvSpPr>
          <p:cNvPr id="13" name="Text 13"/>
          <p:cNvSpPr/>
          <p:nvPr/>
        </p:nvSpPr>
        <p:spPr>
          <a:xfrm>
            <a:off x="3640080" y="2823160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€45,000</a:t>
            </a:r>
          </a:p>
        </p:txBody>
      </p:sp>
      <p:sp>
        <p:nvSpPr>
          <p:cNvPr id="14" name="Text 14"/>
          <p:cNvSpPr/>
          <p:nvPr/>
        </p:nvSpPr>
        <p:spPr>
          <a:xfrm>
            <a:off x="4940080" y="2823160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€68,880</a:t>
            </a:r>
          </a:p>
        </p:txBody>
      </p:sp>
      <p:sp>
        <p:nvSpPr>
          <p:cNvPr id="15" name="Text 15"/>
          <p:cNvSpPr/>
          <p:nvPr/>
        </p:nvSpPr>
        <p:spPr>
          <a:xfrm>
            <a:off x="6240080" y="2823160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€688,620</a:t>
            </a:r>
          </a:p>
        </p:txBody>
      </p:sp>
      <p:sp>
        <p:nvSpPr>
          <p:cNvPr id="16" name="Shape 16"/>
          <p:cNvSpPr/>
          <p:nvPr/>
        </p:nvSpPr>
        <p:spPr>
          <a:xfrm>
            <a:off x="502920" y="3353512"/>
            <a:ext cx="6900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640080" y="3353512"/>
            <a:ext cx="28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Total OPEX</a:t>
            </a:r>
          </a:p>
        </p:txBody>
      </p:sp>
      <p:sp>
        <p:nvSpPr>
          <p:cNvPr id="18" name="Text 18"/>
          <p:cNvSpPr/>
          <p:nvPr/>
        </p:nvSpPr>
        <p:spPr>
          <a:xfrm>
            <a:off x="3640080" y="3353512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-€35,180</a:t>
            </a:r>
          </a:p>
        </p:txBody>
      </p:sp>
      <p:sp>
        <p:nvSpPr>
          <p:cNvPr id="19" name="Text 19"/>
          <p:cNvSpPr/>
          <p:nvPr/>
        </p:nvSpPr>
        <p:spPr>
          <a:xfrm>
            <a:off x="4940080" y="3353512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-€32,380</a:t>
            </a:r>
          </a:p>
        </p:txBody>
      </p:sp>
      <p:sp>
        <p:nvSpPr>
          <p:cNvPr id="20" name="Text 20"/>
          <p:cNvSpPr/>
          <p:nvPr/>
        </p:nvSpPr>
        <p:spPr>
          <a:xfrm>
            <a:off x="6240080" y="3353512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-€102,406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3883864"/>
            <a:ext cx="6900000" cy="530352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640080" y="3883864"/>
            <a:ext cx="28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Pure Commercial EBITDA</a:t>
            </a:r>
          </a:p>
        </p:txBody>
      </p:sp>
      <p:sp>
        <p:nvSpPr>
          <p:cNvPr id="23" name="Text 23"/>
          <p:cNvSpPr/>
          <p:nvPr/>
        </p:nvSpPr>
        <p:spPr>
          <a:xfrm>
            <a:off x="3640080" y="3883864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€9,820</a:t>
            </a:r>
          </a:p>
        </p:txBody>
      </p:sp>
      <p:sp>
        <p:nvSpPr>
          <p:cNvPr id="24" name="Text 24"/>
          <p:cNvSpPr/>
          <p:nvPr/>
        </p:nvSpPr>
        <p:spPr>
          <a:xfrm>
            <a:off x="4940080" y="3883864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€36,500</a:t>
            </a:r>
          </a:p>
        </p:txBody>
      </p:sp>
      <p:sp>
        <p:nvSpPr>
          <p:cNvPr id="25" name="Text 25"/>
          <p:cNvSpPr/>
          <p:nvPr/>
        </p:nvSpPr>
        <p:spPr>
          <a:xfrm>
            <a:off x="6240080" y="3883864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€586,214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" y="4414216"/>
            <a:ext cx="6900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640080" y="4414216"/>
            <a:ext cx="28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Pure EBITDA Margin %</a:t>
            </a:r>
          </a:p>
        </p:txBody>
      </p:sp>
      <p:sp>
        <p:nvSpPr>
          <p:cNvPr id="28" name="Text 28"/>
          <p:cNvSpPr/>
          <p:nvPr/>
        </p:nvSpPr>
        <p:spPr>
          <a:xfrm>
            <a:off x="3640080" y="4414216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21.8%</a:t>
            </a:r>
          </a:p>
        </p:txBody>
      </p:sp>
      <p:sp>
        <p:nvSpPr>
          <p:cNvPr id="29" name="Text 29"/>
          <p:cNvSpPr/>
          <p:nvPr/>
        </p:nvSpPr>
        <p:spPr>
          <a:xfrm>
            <a:off x="4940080" y="4414216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53.0%</a:t>
            </a:r>
          </a:p>
        </p:txBody>
      </p:sp>
      <p:sp>
        <p:nvSpPr>
          <p:cNvPr id="30" name="Text 30"/>
          <p:cNvSpPr/>
          <p:nvPr/>
        </p:nvSpPr>
        <p:spPr>
          <a:xfrm>
            <a:off x="6240080" y="4414216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85.1%</a:t>
            </a:r>
          </a:p>
        </p:txBody>
      </p:sp>
      <p:sp>
        <p:nvSpPr>
          <p:cNvPr id="31" name="Shape 31"/>
          <p:cNvSpPr/>
          <p:nvPr/>
        </p:nvSpPr>
        <p:spPr>
          <a:xfrm>
            <a:off x="502920" y="4944568"/>
            <a:ext cx="6900000" cy="530352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32" name="Text 32"/>
          <p:cNvSpPr/>
          <p:nvPr/>
        </p:nvSpPr>
        <p:spPr>
          <a:xfrm>
            <a:off x="640080" y="4944568"/>
            <a:ext cx="28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Net Income</a:t>
            </a:r>
          </a:p>
        </p:txBody>
      </p:sp>
      <p:sp>
        <p:nvSpPr>
          <p:cNvPr id="33" name="Text 33"/>
          <p:cNvSpPr/>
          <p:nvPr/>
        </p:nvSpPr>
        <p:spPr>
          <a:xfrm>
            <a:off x="3640080" y="4944568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€18,392</a:t>
            </a:r>
          </a:p>
        </p:txBody>
      </p:sp>
      <p:sp>
        <p:nvSpPr>
          <p:cNvPr id="34" name="Text 34"/>
          <p:cNvSpPr/>
          <p:nvPr/>
        </p:nvSpPr>
        <p:spPr>
          <a:xfrm>
            <a:off x="4940080" y="4944568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€28,752</a:t>
            </a:r>
          </a:p>
        </p:txBody>
      </p:sp>
      <p:sp>
        <p:nvSpPr>
          <p:cNvPr id="35" name="Text 35"/>
          <p:cNvSpPr/>
          <p:nvPr/>
        </p:nvSpPr>
        <p:spPr>
          <a:xfrm>
            <a:off x="6240080" y="4944568"/>
            <a:ext cx="1162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€485,279</a:t>
            </a:r>
          </a:p>
        </p:txBody>
      </p:sp>
      <p:sp>
        <p:nvSpPr>
          <p:cNvPr id="36" name="Text 36"/>
          <p:cNvSpPr/>
          <p:nvPr/>
        </p:nvSpPr>
        <p:spPr>
          <a:xfrm>
            <a:off x="502920" y="5534920"/>
            <a:ext cx="69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Pilot (Y1) → Integration (Y2) → Commercial (Y3), per the locked model.</a:t>
            </a:r>
          </a:p>
        </p:txBody>
      </p:sp>
      <p:sp>
        <p:nvSpPr>
          <p:cNvPr id="37" name="Shape 37"/>
          <p:cNvSpPr/>
          <p:nvPr/>
        </p:nvSpPr>
        <p:spPr>
          <a:xfrm>
            <a:off x="7702920" y="2423160"/>
            <a:ext cx="3985855" cy="1900000"/>
          </a:xfrm>
          <a:prstGeom prst="roundRect">
            <a:avLst>
              <a:gd name="adj" fmla="val 3137"/>
            </a:avLst>
          </a:prstGeom>
          <a:solidFill>
            <a:srgbClr val="1B7A46"/>
          </a:solidFill>
          <a:ln/>
        </p:spPr>
      </p:sp>
      <p:sp>
        <p:nvSpPr>
          <p:cNvPr id="38" name="Text 38"/>
          <p:cNvSpPr/>
          <p:nvPr/>
        </p:nvSpPr>
        <p:spPr>
          <a:xfrm>
            <a:off x="7977240" y="2633160"/>
            <a:ext cx="3437215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YEAR 3 COMMERCIAL REVENUE</a:t>
            </a:r>
          </a:p>
        </p:txBody>
      </p:sp>
      <p:sp>
        <p:nvSpPr>
          <p:cNvPr id="39" name="Text 39"/>
          <p:cNvSpPr/>
          <p:nvPr/>
        </p:nvSpPr>
        <p:spPr>
          <a:xfrm>
            <a:off x="7977240" y="3043160"/>
            <a:ext cx="3437215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€688,620</a:t>
            </a:r>
          </a:p>
        </p:txBody>
      </p:sp>
      <p:sp>
        <p:nvSpPr>
          <p:cNvPr id="40" name="Text 40"/>
          <p:cNvSpPr/>
          <p:nvPr/>
        </p:nvSpPr>
        <p:spPr>
          <a:xfrm>
            <a:off x="7977240" y="3813160"/>
            <a:ext cx="3437215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F1FCF5"/>
                </a:solidFill>
                <a:latin typeface="Georgia"/>
                <a:ea typeface="Calibri"/>
                <a:cs typeface="Calibri"/>
              </a:rPr>
              <a:t>Up from €68,880 in Year 2 — full volumetric adoption of the R.4–R.6 revenue streams.</a:t>
            </a:r>
          </a:p>
        </p:txBody>
      </p:sp>
      <p:sp>
        <p:nvSpPr>
          <p:cNvPr id="41" name="Shape 41"/>
          <p:cNvSpPr/>
          <p:nvPr/>
        </p:nvSpPr>
        <p:spPr>
          <a:xfrm>
            <a:off x="7702920" y="4473160"/>
            <a:ext cx="3985855" cy="1900000"/>
          </a:xfrm>
          <a:prstGeom prst="roundRect">
            <a:avLst>
              <a:gd name="adj" fmla="val 3137"/>
            </a:avLst>
          </a:prstGeom>
          <a:solidFill>
            <a:srgbClr val="1B7A46"/>
          </a:solidFill>
          <a:ln/>
        </p:spPr>
      </p:sp>
      <p:sp>
        <p:nvSpPr>
          <p:cNvPr id="42" name="Text 42"/>
          <p:cNvSpPr/>
          <p:nvPr/>
        </p:nvSpPr>
        <p:spPr>
          <a:xfrm>
            <a:off x="7977240" y="4683160"/>
            <a:ext cx="3437215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DEFAEA"/>
                </a:solidFill>
                <a:latin typeface="Georgia"/>
                <a:ea typeface="Calibri"/>
                <a:cs typeface="Calibri"/>
              </a:rPr>
              <a:t>YEAR 3 EBITDA MARGIN</a:t>
            </a:r>
          </a:p>
        </p:txBody>
      </p:sp>
      <p:sp>
        <p:nvSpPr>
          <p:cNvPr id="43" name="Text 43"/>
          <p:cNvSpPr/>
          <p:nvPr/>
        </p:nvSpPr>
        <p:spPr>
          <a:xfrm>
            <a:off x="7977240" y="5093160"/>
            <a:ext cx="3437215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85.1%</a:t>
            </a:r>
          </a:p>
        </p:txBody>
      </p:sp>
      <p:sp>
        <p:nvSpPr>
          <p:cNvPr id="44" name="Text 44"/>
          <p:cNvSpPr/>
          <p:nvPr/>
        </p:nvSpPr>
        <p:spPr>
          <a:xfrm>
            <a:off x="7977240" y="5863160"/>
            <a:ext cx="3437215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F1FCF5"/>
                </a:solidFill>
                <a:latin typeface="Georgia"/>
                <a:ea typeface="Calibri"/>
                <a:cs typeface="Calibri"/>
              </a:rPr>
              <a:t>€586,214 Pure Commercial EBITDA on €688,620 total revenue.</a:t>
            </a:r>
          </a:p>
        </p:txBody>
      </p:sp>
      <p:sp>
        <p:nvSpPr>
          <p:cNvPr id="45" name="Text 45"/>
          <p:cNvSpPr/>
          <p:nvPr/>
        </p:nvSpPr>
        <p:spPr>
          <a:xfrm>
            <a:off x="502920" y="6583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FINANCIAL HIGHLIGHTS</a:t>
            </a:r>
          </a:p>
        </p:txBody>
      </p:sp>
      <p:sp>
        <p:nvSpPr>
          <p:cNvPr id="46" name="Text 4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 - Valuation and Returns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18 — VALUATION &amp; RETURNS</a:t>
            </a:r>
          </a:p>
        </p:txBody>
      </p:sp>
      <p:sp>
        <p:nvSpPr>
          <p:cNvPr id="4" name="Text 4"/>
          <p:cNvSpPr/>
          <p:nvPr/>
        </p:nvSpPr>
        <p:spPr>
          <a:xfrm>
            <a:off x="502920" y="836676"/>
            <a:ext cx="950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Ten-Year Valuation &amp;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26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Sponsor Returns Profile</a:t>
            </a:r>
          </a:p>
        </p:txBody>
      </p:sp>
      <p:sp>
        <p:nvSpPr>
          <p:cNvPr id="5" name="Text 5"/>
          <p:cNvSpPr/>
          <p:nvPr/>
        </p:nvSpPr>
        <p:spPr>
          <a:xfrm>
            <a:off x="502920" y="1938528"/>
            <a:ext cx="10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Discounted cash-flow valuation under the dynamic WACC glidepath, inclusive of non-dilutive grants and soft debt.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2423160"/>
            <a:ext cx="3545738" cy="160000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68020" y="2578608"/>
            <a:ext cx="3215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€3.47M</a:t>
            </a:r>
          </a:p>
        </p:txBody>
      </p:sp>
      <p:sp>
        <p:nvSpPr>
          <p:cNvPr id="8" name="Text 8"/>
          <p:cNvSpPr/>
          <p:nvPr/>
        </p:nvSpPr>
        <p:spPr>
          <a:xfrm>
            <a:off x="668020" y="3182112"/>
            <a:ext cx="321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10-YR ENTERPRISE NPV (UNLEVERED)</a:t>
            </a:r>
          </a:p>
        </p:txBody>
      </p:sp>
      <p:sp>
        <p:nvSpPr>
          <p:cNvPr id="9" name="Text 9"/>
          <p:cNvSpPr/>
          <p:nvPr/>
        </p:nvSpPr>
        <p:spPr>
          <a:xfrm>
            <a:off x="668020" y="3657600"/>
            <a:ext cx="3215538" cy="26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Total present value of unlevered project cash flows.</a:t>
            </a:r>
          </a:p>
        </p:txBody>
      </p:sp>
      <p:sp>
        <p:nvSpPr>
          <p:cNvPr id="10" name="Shape 10"/>
          <p:cNvSpPr/>
          <p:nvPr/>
        </p:nvSpPr>
        <p:spPr>
          <a:xfrm>
            <a:off x="4322978" y="2423160"/>
            <a:ext cx="3545738" cy="160000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4488078" y="2578608"/>
            <a:ext cx="3215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€2.39M</a:t>
            </a:r>
          </a:p>
        </p:txBody>
      </p:sp>
      <p:sp>
        <p:nvSpPr>
          <p:cNvPr id="12" name="Text 12"/>
          <p:cNvSpPr/>
          <p:nvPr/>
        </p:nvSpPr>
        <p:spPr>
          <a:xfrm>
            <a:off x="4488078" y="3182112"/>
            <a:ext cx="321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10-YR EQUITY NPV (LEVERED)</a:t>
            </a:r>
          </a:p>
        </p:txBody>
      </p:sp>
      <p:sp>
        <p:nvSpPr>
          <p:cNvPr id="13" name="Text 13"/>
          <p:cNvSpPr/>
          <p:nvPr/>
        </p:nvSpPr>
        <p:spPr>
          <a:xfrm>
            <a:off x="4488078" y="3657600"/>
            <a:ext cx="3215538" cy="26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Present value accruing to sponsor equity.</a:t>
            </a:r>
          </a:p>
        </p:txBody>
      </p:sp>
      <p:sp>
        <p:nvSpPr>
          <p:cNvPr id="14" name="Shape 14"/>
          <p:cNvSpPr/>
          <p:nvPr/>
        </p:nvSpPr>
        <p:spPr>
          <a:xfrm>
            <a:off x="8143036" y="2423160"/>
            <a:ext cx="3545738" cy="160000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8308136" y="2578608"/>
            <a:ext cx="3215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€1.78M</a:t>
            </a:r>
          </a:p>
        </p:txBody>
      </p:sp>
      <p:sp>
        <p:nvSpPr>
          <p:cNvPr id="16" name="Text 16"/>
          <p:cNvSpPr/>
          <p:nvPr/>
        </p:nvSpPr>
        <p:spPr>
          <a:xfrm>
            <a:off x="8308136" y="3182112"/>
            <a:ext cx="321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DISCOUNTED TERMINAL VALUE</a:t>
            </a:r>
          </a:p>
        </p:txBody>
      </p:sp>
      <p:sp>
        <p:nvSpPr>
          <p:cNvPr id="17" name="Text 17"/>
          <p:cNvSpPr/>
          <p:nvPr/>
        </p:nvSpPr>
        <p:spPr>
          <a:xfrm>
            <a:off x="8308136" y="3657600"/>
            <a:ext cx="3215538" cy="26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Residual exit value, Gordon Growth (g = 2.5%).</a:t>
            </a:r>
          </a:p>
        </p:txBody>
      </p:sp>
      <p:sp>
        <p:nvSpPr>
          <p:cNvPr id="18" name="Shape 18"/>
          <p:cNvSpPr/>
          <p:nvPr/>
        </p:nvSpPr>
        <p:spPr>
          <a:xfrm>
            <a:off x="502920" y="4223160"/>
            <a:ext cx="3545738" cy="160000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68020" y="4378608"/>
            <a:ext cx="3215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133.2%</a:t>
            </a:r>
          </a:p>
        </p:txBody>
      </p:sp>
      <p:sp>
        <p:nvSpPr>
          <p:cNvPr id="20" name="Text 20"/>
          <p:cNvSpPr/>
          <p:nvPr/>
        </p:nvSpPr>
        <p:spPr>
          <a:xfrm>
            <a:off x="668020" y="4982112"/>
            <a:ext cx="321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PROJECT IRR (UNLEVERED)</a:t>
            </a:r>
          </a:p>
        </p:txBody>
      </p:sp>
      <p:sp>
        <p:nvSpPr>
          <p:cNvPr id="21" name="Text 21"/>
          <p:cNvSpPr/>
          <p:nvPr/>
        </p:nvSpPr>
        <p:spPr>
          <a:xfrm>
            <a:off x="668020" y="5457600"/>
            <a:ext cx="3215538" cy="26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Internal rate of return on total invested capital.</a:t>
            </a:r>
          </a:p>
        </p:txBody>
      </p:sp>
      <p:sp>
        <p:nvSpPr>
          <p:cNvPr id="22" name="Shape 22"/>
          <p:cNvSpPr/>
          <p:nvPr/>
        </p:nvSpPr>
        <p:spPr>
          <a:xfrm>
            <a:off x="4322978" y="4223160"/>
            <a:ext cx="3545738" cy="160000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4488078" y="4378608"/>
            <a:ext cx="3215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261.4%</a:t>
            </a:r>
          </a:p>
        </p:txBody>
      </p:sp>
      <p:sp>
        <p:nvSpPr>
          <p:cNvPr id="24" name="Text 24"/>
          <p:cNvSpPr/>
          <p:nvPr/>
        </p:nvSpPr>
        <p:spPr>
          <a:xfrm>
            <a:off x="4488078" y="4982112"/>
            <a:ext cx="321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SPONSOR IRR (LEVERED)</a:t>
            </a:r>
          </a:p>
        </p:txBody>
      </p:sp>
      <p:sp>
        <p:nvSpPr>
          <p:cNvPr id="25" name="Text 25"/>
          <p:cNvSpPr/>
          <p:nvPr/>
        </p:nvSpPr>
        <p:spPr>
          <a:xfrm>
            <a:off x="4488078" y="5457600"/>
            <a:ext cx="3215538" cy="26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Boosted by €56k in non-dilutive grants.</a:t>
            </a:r>
          </a:p>
        </p:txBody>
      </p:sp>
      <p:sp>
        <p:nvSpPr>
          <p:cNvPr id="26" name="Shape 26"/>
          <p:cNvSpPr/>
          <p:nvPr/>
        </p:nvSpPr>
        <p:spPr>
          <a:xfrm>
            <a:off x="8143036" y="4223160"/>
            <a:ext cx="3545738" cy="1600000"/>
          </a:xfrm>
          <a:prstGeom prst="roundRect">
            <a:avLst>
              <a:gd name="adj" fmla="val 341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8308136" y="4378608"/>
            <a:ext cx="3215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19.75x</a:t>
            </a:r>
          </a:p>
        </p:txBody>
      </p:sp>
      <p:sp>
        <p:nvSpPr>
          <p:cNvPr id="28" name="Text 28"/>
          <p:cNvSpPr/>
          <p:nvPr/>
        </p:nvSpPr>
        <p:spPr>
          <a:xfrm>
            <a:off x="8308136" y="4982112"/>
            <a:ext cx="321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MINIMUM DSCR</a:t>
            </a:r>
          </a:p>
        </p:txBody>
      </p:sp>
      <p:sp>
        <p:nvSpPr>
          <p:cNvPr id="29" name="Text 29"/>
          <p:cNvSpPr/>
          <p:nvPr/>
        </p:nvSpPr>
        <p:spPr>
          <a:xfrm>
            <a:off x="8308136" y="5457600"/>
            <a:ext cx="3215538" cy="26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Peak debt-service floor vs. 1.30x banking covenant.</a:t>
            </a:r>
          </a:p>
        </p:txBody>
      </p:sp>
      <p:sp>
        <p:nvSpPr>
          <p:cNvPr id="30" name="Shape 30"/>
          <p:cNvSpPr/>
          <p:nvPr/>
        </p:nvSpPr>
        <p:spPr>
          <a:xfrm>
            <a:off x="502920" y="5943160"/>
            <a:ext cx="11185855" cy="55000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31" name="Text 31"/>
          <p:cNvSpPr/>
          <p:nvPr/>
        </p:nvSpPr>
        <p:spPr>
          <a:xfrm>
            <a:off x="777240" y="5943160"/>
            <a:ext cx="10637215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Discounting architecture — </a:t>
            </a:r>
            <a:r>
              <a:rPr lang="en-US" sz="1000">
                <a:solidFill>
                  <a:srgbClr val="F1FCF5"/>
                </a:solidFill>
                <a:latin typeface="Georgia"/>
                <a:ea typeface="Calibri"/>
                <a:cs typeface="Calibri"/>
              </a:rPr>
              <a:t>Cost of Equity (CAPM) 12.53% · Dynamic WACC Yrs 1–2 (soft-debt tax shield) 4.70% · fully de-levered WACC Yrs 7–10, 12.53% · Terminal growth (Gordon Growth) 2.50%.</a:t>
            </a:r>
          </a:p>
        </p:txBody>
      </p:sp>
      <p:sp>
        <p:nvSpPr>
          <p:cNvPr id="32" name="Text 32"/>
          <p:cNvSpPr/>
          <p:nvPr/>
        </p:nvSpPr>
        <p:spPr>
          <a:xfrm>
            <a:off x="502920" y="6583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VALUATION &amp; RETURNS</a:t>
            </a:r>
          </a:p>
        </p:txBody>
      </p:sp>
      <p:sp>
        <p:nvSpPr>
          <p:cNvPr id="33" name="Text 3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19 — CONCLUSIONS</a:t>
            </a:r>
            <a:endParaRPr lang="en-US" sz="12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950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From Simulation to</a:t>
            </a:r>
            <a:endParaRPr lang="en-US" sz="2700">
              <a:latin typeface="Georgia" panose="02040502050405020303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700" b="1">
                <a:solidFill>
                  <a:srgbClr val="1020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Sovereign Deployment</a:t>
            </a:r>
            <a:endParaRPr lang="en-US" sz="270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 phased path from a zero-CapEx pilot to a self-funding, ESG-monetized corridor network.</a:t>
            </a:r>
            <a:endParaRPr lang="en-US" sz="1250">
              <a:latin typeface="Georgia" panose="02040502050405020303" pitchFamily="18" charset="0"/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2560320"/>
            <a:ext cx="3484778" cy="2550000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802920" y="2820320"/>
            <a:ext cx="2884778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Immediate Execution</a:t>
            </a:r>
            <a:endParaRPr lang="en-US" sz="2000" dirty="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7"/>
          <p:cNvSpPr/>
          <p:nvPr/>
        </p:nvSpPr>
        <p:spPr>
          <a:xfrm>
            <a:off x="802920" y="3340320"/>
            <a:ext cx="2884778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Launch the 5% sandbox pilot — €0 civil CapEx, Phase 1 shadow mode only</a:t>
            </a: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Secure B2G sign-off from Transport Ministry &amp; Customs (R.1–R.3 contract)</a:t>
            </a: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Fund via €56,000 non-dilutive grants + €50,000 soft debt facility</a:t>
            </a:r>
          </a:p>
        </p:txBody>
      </p:sp>
      <p:sp>
        <p:nvSpPr>
          <p:cNvPr id="8" name="Shape 8"/>
          <p:cNvSpPr/>
          <p:nvPr/>
        </p:nvSpPr>
        <p:spPr>
          <a:xfrm>
            <a:off x="4353458" y="2560320"/>
            <a:ext cx="3484778" cy="2550000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4653458" y="2820320"/>
            <a:ext cx="2884778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Phased Scaling</a:t>
            </a:r>
            <a:endParaRPr lang="en-US" sz="200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4653458" y="3340320"/>
            <a:ext cx="2884778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Phase 1 (Yrs 1–2): fixed B2G revenue, zero volumetric risk</a:t>
            </a: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Phase 2 (Yrs 3+): activate R.4–R.6 fleet, ESG &amp; carbon streams</a:t>
            </a: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Reach €688,620 revenue at an 85.1% EBITDA margin by Year 3</a:t>
            </a:r>
          </a:p>
        </p:txBody>
      </p:sp>
      <p:sp>
        <p:nvSpPr>
          <p:cNvPr id="11" name="Shape 11"/>
          <p:cNvSpPr/>
          <p:nvPr/>
        </p:nvSpPr>
        <p:spPr>
          <a:xfrm>
            <a:off x="8203996" y="2560320"/>
            <a:ext cx="3484778" cy="2550000"/>
          </a:xfrm>
          <a:prstGeom prst="roundRect">
            <a:avLst>
              <a:gd name="adj" fmla="val 3535"/>
            </a:avLst>
          </a:prstGeom>
          <a:solidFill>
            <a:srgbClr val="F1FCF5"/>
          </a:solidFill>
          <a:ln w="12700">
            <a:solidFill>
              <a:srgbClr val="E3F3E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8503996" y="2820320"/>
            <a:ext cx="2884778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200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 13"/>
          <p:cNvSpPr/>
          <p:nvPr/>
        </p:nvSpPr>
        <p:spPr>
          <a:xfrm>
            <a:off x="8503996" y="3340320"/>
            <a:ext cx="2884778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Expand horizontally to further EU–Ukraine border hubs &amp; seaports</a:t>
            </a: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Deliver €2.39M levered equity NPV at a 261.4% sponsor IRR</a:t>
            </a:r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Anchor as core infrastructure for mandatory EU CSDDD/CSRD reporting</a:t>
            </a:r>
          </a:p>
        </p:txBody>
      </p:sp>
      <p:sp>
        <p:nvSpPr>
          <p:cNvPr id="14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15" name="Text 15"/>
          <p:cNvSpPr/>
          <p:nvPr/>
        </p:nvSpPr>
        <p:spPr>
          <a:xfrm>
            <a:off x="10975543" y="6309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 A - Revenue Stream Matrix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APPENDIX A — REVENUE MODEL</a:t>
            </a:r>
          </a:p>
        </p:txBody>
      </p:sp>
      <p:sp>
        <p:nvSpPr>
          <p:cNvPr id="4" name="Text 4"/>
          <p:cNvSpPr/>
          <p:nvPr/>
        </p:nvSpPr>
        <p:spPr>
          <a:xfrm>
            <a:off x="502920" y="836676"/>
            <a:ext cx="1050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Revenue Stream &amp; Monetization Table</a:t>
            </a:r>
          </a:p>
        </p:txBody>
      </p:sp>
      <p:sp>
        <p:nvSpPr>
          <p:cNvPr id="5" name="Text 5"/>
          <p:cNvSpPr/>
          <p:nvPr/>
        </p:nvSpPr>
        <p:spPr>
          <a:xfrm>
            <a:off x="502920" y="1531240"/>
            <a:ext cx="10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R.1–R.6 breakdown: pricing, monetization mechanism and 3-year yield per revenue engine.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2140000"/>
            <a:ext cx="11185855" cy="40000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7" name="Text 7"/>
          <p:cNvSpPr/>
          <p:nvPr/>
        </p:nvSpPr>
        <p:spPr>
          <a:xfrm>
            <a:off x="640080" y="2140000"/>
            <a:ext cx="701779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STREAM</a:t>
            </a:r>
          </a:p>
        </p:txBody>
      </p:sp>
      <p:sp>
        <p:nvSpPr>
          <p:cNvPr id="8" name="Text 8"/>
          <p:cNvSpPr/>
          <p:nvPr/>
        </p:nvSpPr>
        <p:spPr>
          <a:xfrm>
            <a:off x="1479019" y="2140000"/>
            <a:ext cx="260337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MONETIZATION</a:t>
            </a:r>
          </a:p>
        </p:txBody>
      </p:sp>
      <p:sp>
        <p:nvSpPr>
          <p:cNvPr id="9" name="Text 9"/>
          <p:cNvSpPr/>
          <p:nvPr/>
        </p:nvSpPr>
        <p:spPr>
          <a:xfrm>
            <a:off x="4219553" y="2140000"/>
            <a:ext cx="182036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PRICE / RATE</a:t>
            </a:r>
          </a:p>
        </p:txBody>
      </p:sp>
      <p:sp>
        <p:nvSpPr>
          <p:cNvPr id="10" name="Text 10"/>
          <p:cNvSpPr/>
          <p:nvPr/>
        </p:nvSpPr>
        <p:spPr>
          <a:xfrm>
            <a:off x="6177077" y="2140000"/>
            <a:ext cx="1149213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YEAR 1</a:t>
            </a:r>
          </a:p>
        </p:txBody>
      </p:sp>
      <p:sp>
        <p:nvSpPr>
          <p:cNvPr id="11" name="Text 11"/>
          <p:cNvSpPr/>
          <p:nvPr/>
        </p:nvSpPr>
        <p:spPr>
          <a:xfrm>
            <a:off x="7463450" y="2140000"/>
            <a:ext cx="1149213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YEAR 2</a:t>
            </a:r>
          </a:p>
        </p:txBody>
      </p:sp>
      <p:sp>
        <p:nvSpPr>
          <p:cNvPr id="12" name="Text 12"/>
          <p:cNvSpPr/>
          <p:nvPr/>
        </p:nvSpPr>
        <p:spPr>
          <a:xfrm>
            <a:off x="8749823" y="2140000"/>
            <a:ext cx="126107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YEAR 3</a:t>
            </a:r>
          </a:p>
        </p:txBody>
      </p:sp>
      <p:sp>
        <p:nvSpPr>
          <p:cNvPr id="13" name="Text 13"/>
          <p:cNvSpPr/>
          <p:nvPr/>
        </p:nvSpPr>
        <p:spPr>
          <a:xfrm>
            <a:off x="10148054" y="2140000"/>
            <a:ext cx="154072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PROBABILITY</a:t>
            </a:r>
          </a:p>
        </p:txBody>
      </p:sp>
      <p:sp>
        <p:nvSpPr>
          <p:cNvPr id="14" name="Shape 14"/>
          <p:cNvSpPr/>
          <p:nvPr/>
        </p:nvSpPr>
        <p:spPr>
          <a:xfrm>
            <a:off x="502920" y="2540000"/>
            <a:ext cx="11185855" cy="46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640080" y="2540000"/>
            <a:ext cx="701779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R.1</a:t>
            </a:r>
          </a:p>
        </p:txBody>
      </p:sp>
      <p:sp>
        <p:nvSpPr>
          <p:cNvPr id="16" name="Text 16"/>
          <p:cNvSpPr/>
          <p:nvPr/>
        </p:nvSpPr>
        <p:spPr>
          <a:xfrm>
            <a:off x="1479019" y="2540000"/>
            <a:ext cx="260337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Upfront Integration Fee</a:t>
            </a:r>
          </a:p>
        </p:txBody>
      </p:sp>
      <p:sp>
        <p:nvSpPr>
          <p:cNvPr id="17" name="Text 17"/>
          <p:cNvSpPr/>
          <p:nvPr/>
        </p:nvSpPr>
        <p:spPr>
          <a:xfrm>
            <a:off x="4219553" y="2540000"/>
            <a:ext cx="182036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€15,000 setup</a:t>
            </a:r>
          </a:p>
        </p:txBody>
      </p:sp>
      <p:sp>
        <p:nvSpPr>
          <p:cNvPr id="18" name="Text 18"/>
          <p:cNvSpPr/>
          <p:nvPr/>
        </p:nvSpPr>
        <p:spPr>
          <a:xfrm>
            <a:off x="6177077" y="254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€15,000</a:t>
            </a:r>
          </a:p>
        </p:txBody>
      </p:sp>
      <p:sp>
        <p:nvSpPr>
          <p:cNvPr id="19" name="Text 19"/>
          <p:cNvSpPr/>
          <p:nvPr/>
        </p:nvSpPr>
        <p:spPr>
          <a:xfrm>
            <a:off x="7463450" y="254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20" name="Text 20"/>
          <p:cNvSpPr/>
          <p:nvPr/>
        </p:nvSpPr>
        <p:spPr>
          <a:xfrm>
            <a:off x="8749823" y="2540000"/>
            <a:ext cx="126107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21" name="Text 21"/>
          <p:cNvSpPr/>
          <p:nvPr/>
        </p:nvSpPr>
        <p:spPr>
          <a:xfrm>
            <a:off x="10148054" y="2540000"/>
            <a:ext cx="154072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HIGH (95%)</a:t>
            </a:r>
          </a:p>
        </p:txBody>
      </p:sp>
      <p:sp>
        <p:nvSpPr>
          <p:cNvPr id="22" name="Shape 22"/>
          <p:cNvSpPr/>
          <p:nvPr/>
        </p:nvSpPr>
        <p:spPr>
          <a:xfrm>
            <a:off x="502920" y="3000000"/>
            <a:ext cx="11185855" cy="4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640080" y="3000000"/>
            <a:ext cx="701779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R.2</a:t>
            </a:r>
          </a:p>
        </p:txBody>
      </p:sp>
      <p:sp>
        <p:nvSpPr>
          <p:cNvPr id="24" name="Text 24"/>
          <p:cNvSpPr/>
          <p:nvPr/>
        </p:nvSpPr>
        <p:spPr>
          <a:xfrm>
            <a:off x="1479019" y="3000000"/>
            <a:ext cx="260337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Annual SaaS Twin License</a:t>
            </a:r>
          </a:p>
        </p:txBody>
      </p:sp>
      <p:sp>
        <p:nvSpPr>
          <p:cNvPr id="25" name="Text 25"/>
          <p:cNvSpPr/>
          <p:nvPr/>
        </p:nvSpPr>
        <p:spPr>
          <a:xfrm>
            <a:off x="4219553" y="3000000"/>
            <a:ext cx="182036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€25k Pilot / €60k Base</a:t>
            </a:r>
          </a:p>
        </p:txBody>
      </p:sp>
      <p:sp>
        <p:nvSpPr>
          <p:cNvPr id="26" name="Text 26"/>
          <p:cNvSpPr/>
          <p:nvPr/>
        </p:nvSpPr>
        <p:spPr>
          <a:xfrm>
            <a:off x="6177077" y="300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€25,000</a:t>
            </a:r>
          </a:p>
        </p:txBody>
      </p:sp>
      <p:sp>
        <p:nvSpPr>
          <p:cNvPr id="27" name="Text 27"/>
          <p:cNvSpPr/>
          <p:nvPr/>
        </p:nvSpPr>
        <p:spPr>
          <a:xfrm>
            <a:off x="7463450" y="300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€61,500</a:t>
            </a:r>
          </a:p>
        </p:txBody>
      </p:sp>
      <p:sp>
        <p:nvSpPr>
          <p:cNvPr id="28" name="Text 28"/>
          <p:cNvSpPr/>
          <p:nvPr/>
        </p:nvSpPr>
        <p:spPr>
          <a:xfrm>
            <a:off x="8749823" y="3000000"/>
            <a:ext cx="126107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€63,037</a:t>
            </a:r>
          </a:p>
        </p:txBody>
      </p:sp>
      <p:sp>
        <p:nvSpPr>
          <p:cNvPr id="29" name="Text 29"/>
          <p:cNvSpPr/>
          <p:nvPr/>
        </p:nvSpPr>
        <p:spPr>
          <a:xfrm>
            <a:off x="10148054" y="3000000"/>
            <a:ext cx="154072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HIGH (90%)</a:t>
            </a:r>
          </a:p>
        </p:txBody>
      </p:sp>
      <p:sp>
        <p:nvSpPr>
          <p:cNvPr id="30" name="Shape 30"/>
          <p:cNvSpPr/>
          <p:nvPr/>
        </p:nvSpPr>
        <p:spPr>
          <a:xfrm>
            <a:off x="502920" y="3460000"/>
            <a:ext cx="11185855" cy="46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31" name="Text 31"/>
          <p:cNvSpPr/>
          <p:nvPr/>
        </p:nvSpPr>
        <p:spPr>
          <a:xfrm>
            <a:off x="640080" y="3460000"/>
            <a:ext cx="701779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R.3</a:t>
            </a:r>
          </a:p>
        </p:txBody>
      </p:sp>
      <p:sp>
        <p:nvSpPr>
          <p:cNvPr id="32" name="Text 32"/>
          <p:cNvSpPr/>
          <p:nvPr/>
        </p:nvSpPr>
        <p:spPr>
          <a:xfrm>
            <a:off x="1479019" y="3460000"/>
            <a:ext cx="260337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Remote Governance Retainer</a:t>
            </a:r>
          </a:p>
        </p:txBody>
      </p:sp>
      <p:sp>
        <p:nvSpPr>
          <p:cNvPr id="33" name="Text 33"/>
          <p:cNvSpPr/>
          <p:nvPr/>
        </p:nvSpPr>
        <p:spPr>
          <a:xfrm>
            <a:off x="4219553" y="3460000"/>
            <a:ext cx="182036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€5k Pilot / €7.2k Base</a:t>
            </a:r>
          </a:p>
        </p:txBody>
      </p:sp>
      <p:sp>
        <p:nvSpPr>
          <p:cNvPr id="34" name="Text 34"/>
          <p:cNvSpPr/>
          <p:nvPr/>
        </p:nvSpPr>
        <p:spPr>
          <a:xfrm>
            <a:off x="6177077" y="346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€5,000</a:t>
            </a:r>
          </a:p>
        </p:txBody>
      </p:sp>
      <p:sp>
        <p:nvSpPr>
          <p:cNvPr id="35" name="Text 35"/>
          <p:cNvSpPr/>
          <p:nvPr/>
        </p:nvSpPr>
        <p:spPr>
          <a:xfrm>
            <a:off x="7463450" y="346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€7,380</a:t>
            </a:r>
          </a:p>
        </p:txBody>
      </p:sp>
      <p:sp>
        <p:nvSpPr>
          <p:cNvPr id="36" name="Text 36"/>
          <p:cNvSpPr/>
          <p:nvPr/>
        </p:nvSpPr>
        <p:spPr>
          <a:xfrm>
            <a:off x="8749823" y="3460000"/>
            <a:ext cx="126107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€7,564</a:t>
            </a:r>
          </a:p>
        </p:txBody>
      </p:sp>
      <p:sp>
        <p:nvSpPr>
          <p:cNvPr id="37" name="Text 37"/>
          <p:cNvSpPr/>
          <p:nvPr/>
        </p:nvSpPr>
        <p:spPr>
          <a:xfrm>
            <a:off x="10148054" y="3460000"/>
            <a:ext cx="154072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HIGH (90%)</a:t>
            </a:r>
          </a:p>
        </p:txBody>
      </p:sp>
      <p:sp>
        <p:nvSpPr>
          <p:cNvPr id="38" name="Shape 38"/>
          <p:cNvSpPr/>
          <p:nvPr/>
        </p:nvSpPr>
        <p:spPr>
          <a:xfrm>
            <a:off x="502920" y="3920000"/>
            <a:ext cx="11185855" cy="4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39" name="Text 39"/>
          <p:cNvSpPr/>
          <p:nvPr/>
        </p:nvSpPr>
        <p:spPr>
          <a:xfrm>
            <a:off x="640080" y="3920000"/>
            <a:ext cx="701779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R.4</a:t>
            </a:r>
          </a:p>
        </p:txBody>
      </p:sp>
      <p:sp>
        <p:nvSpPr>
          <p:cNvPr id="40" name="Text 40"/>
          <p:cNvSpPr/>
          <p:nvPr/>
        </p:nvSpPr>
        <p:spPr>
          <a:xfrm>
            <a:off x="1479019" y="3920000"/>
            <a:ext cx="260337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Fast-Lane Transaction Fee</a:t>
            </a:r>
          </a:p>
        </p:txBody>
      </p:sp>
      <p:sp>
        <p:nvSpPr>
          <p:cNvPr id="41" name="Text 41"/>
          <p:cNvSpPr/>
          <p:nvPr/>
        </p:nvSpPr>
        <p:spPr>
          <a:xfrm>
            <a:off x="4219553" y="3920000"/>
            <a:ext cx="182036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€15.00 / cleared transit</a:t>
            </a:r>
          </a:p>
        </p:txBody>
      </p:sp>
      <p:sp>
        <p:nvSpPr>
          <p:cNvPr id="42" name="Text 42"/>
          <p:cNvSpPr/>
          <p:nvPr/>
        </p:nvSpPr>
        <p:spPr>
          <a:xfrm>
            <a:off x="6177077" y="392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43" name="Text 43"/>
          <p:cNvSpPr/>
          <p:nvPr/>
        </p:nvSpPr>
        <p:spPr>
          <a:xfrm>
            <a:off x="7463450" y="392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44" name="Text 44"/>
          <p:cNvSpPr/>
          <p:nvPr/>
        </p:nvSpPr>
        <p:spPr>
          <a:xfrm>
            <a:off x="8749823" y="3920000"/>
            <a:ext cx="126107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€328,500</a:t>
            </a:r>
          </a:p>
        </p:txBody>
      </p:sp>
      <p:sp>
        <p:nvSpPr>
          <p:cNvPr id="45" name="Text 45"/>
          <p:cNvSpPr/>
          <p:nvPr/>
        </p:nvSpPr>
        <p:spPr>
          <a:xfrm>
            <a:off x="10148054" y="3920000"/>
            <a:ext cx="154072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HIGH (85%)</a:t>
            </a:r>
          </a:p>
        </p:txBody>
      </p:sp>
      <p:sp>
        <p:nvSpPr>
          <p:cNvPr id="46" name="Shape 46"/>
          <p:cNvSpPr/>
          <p:nvPr/>
        </p:nvSpPr>
        <p:spPr>
          <a:xfrm>
            <a:off x="502920" y="4380000"/>
            <a:ext cx="11185855" cy="46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47" name="Text 47"/>
          <p:cNvSpPr/>
          <p:nvPr/>
        </p:nvSpPr>
        <p:spPr>
          <a:xfrm>
            <a:off x="640080" y="4380000"/>
            <a:ext cx="701779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R.5</a:t>
            </a:r>
          </a:p>
        </p:txBody>
      </p:sp>
      <p:sp>
        <p:nvSpPr>
          <p:cNvPr id="48" name="Text 48"/>
          <p:cNvSpPr/>
          <p:nvPr/>
        </p:nvSpPr>
        <p:spPr>
          <a:xfrm>
            <a:off x="1479019" y="4380000"/>
            <a:ext cx="260337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Scope 3 ESG Audit Fee</a:t>
            </a:r>
          </a:p>
        </p:txBody>
      </p:sp>
      <p:sp>
        <p:nvSpPr>
          <p:cNvPr id="49" name="Text 49"/>
          <p:cNvSpPr/>
          <p:nvPr/>
        </p:nvSpPr>
        <p:spPr>
          <a:xfrm>
            <a:off x="4219553" y="4380000"/>
            <a:ext cx="182036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€2.50 / CSDDD cert</a:t>
            </a:r>
          </a:p>
        </p:txBody>
      </p:sp>
      <p:sp>
        <p:nvSpPr>
          <p:cNvPr id="50" name="Text 50"/>
          <p:cNvSpPr/>
          <p:nvPr/>
        </p:nvSpPr>
        <p:spPr>
          <a:xfrm>
            <a:off x="6177077" y="438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51" name="Text 51"/>
          <p:cNvSpPr/>
          <p:nvPr/>
        </p:nvSpPr>
        <p:spPr>
          <a:xfrm>
            <a:off x="7463450" y="438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52" name="Text 52"/>
          <p:cNvSpPr/>
          <p:nvPr/>
        </p:nvSpPr>
        <p:spPr>
          <a:xfrm>
            <a:off x="8749823" y="4380000"/>
            <a:ext cx="126107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€54,750</a:t>
            </a:r>
          </a:p>
        </p:txBody>
      </p:sp>
      <p:sp>
        <p:nvSpPr>
          <p:cNvPr id="53" name="Text 53"/>
          <p:cNvSpPr/>
          <p:nvPr/>
        </p:nvSpPr>
        <p:spPr>
          <a:xfrm>
            <a:off x="10148054" y="4380000"/>
            <a:ext cx="154072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VERY HIGH (90%)</a:t>
            </a:r>
          </a:p>
        </p:txBody>
      </p:sp>
      <p:sp>
        <p:nvSpPr>
          <p:cNvPr id="54" name="Shape 54"/>
          <p:cNvSpPr/>
          <p:nvPr/>
        </p:nvSpPr>
        <p:spPr>
          <a:xfrm>
            <a:off x="502920" y="4840000"/>
            <a:ext cx="11185855" cy="4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55" name="Text 55"/>
          <p:cNvSpPr/>
          <p:nvPr/>
        </p:nvSpPr>
        <p:spPr>
          <a:xfrm>
            <a:off x="640080" y="4840000"/>
            <a:ext cx="701779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R.6</a:t>
            </a:r>
          </a:p>
        </p:txBody>
      </p:sp>
      <p:sp>
        <p:nvSpPr>
          <p:cNvPr id="56" name="Text 56"/>
          <p:cNvSpPr/>
          <p:nvPr/>
        </p:nvSpPr>
        <p:spPr>
          <a:xfrm>
            <a:off x="1479019" y="4840000"/>
            <a:ext cx="260337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EU ETS Carbon Offsets</a:t>
            </a:r>
          </a:p>
        </p:txBody>
      </p:sp>
      <p:sp>
        <p:nvSpPr>
          <p:cNvPr id="57" name="Text 57"/>
          <p:cNvSpPr/>
          <p:nvPr/>
        </p:nvSpPr>
        <p:spPr>
          <a:xfrm>
            <a:off x="4219553" y="4840000"/>
            <a:ext cx="182036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€10.72 / transit</a:t>
            </a:r>
          </a:p>
        </p:txBody>
      </p:sp>
      <p:sp>
        <p:nvSpPr>
          <p:cNvPr id="58" name="Text 58"/>
          <p:cNvSpPr/>
          <p:nvPr/>
        </p:nvSpPr>
        <p:spPr>
          <a:xfrm>
            <a:off x="6177077" y="484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59" name="Text 59"/>
          <p:cNvSpPr/>
          <p:nvPr/>
        </p:nvSpPr>
        <p:spPr>
          <a:xfrm>
            <a:off x="7463450" y="484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€0</a:t>
            </a:r>
          </a:p>
        </p:txBody>
      </p:sp>
      <p:sp>
        <p:nvSpPr>
          <p:cNvPr id="60" name="Text 60"/>
          <p:cNvSpPr/>
          <p:nvPr/>
        </p:nvSpPr>
        <p:spPr>
          <a:xfrm>
            <a:off x="8749823" y="4840000"/>
            <a:ext cx="126107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€234,768</a:t>
            </a:r>
          </a:p>
        </p:txBody>
      </p:sp>
      <p:sp>
        <p:nvSpPr>
          <p:cNvPr id="61" name="Text 61"/>
          <p:cNvSpPr/>
          <p:nvPr/>
        </p:nvSpPr>
        <p:spPr>
          <a:xfrm>
            <a:off x="10148054" y="4840000"/>
            <a:ext cx="154072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MED-HIGH (70%)</a:t>
            </a:r>
          </a:p>
        </p:txBody>
      </p:sp>
      <p:sp>
        <p:nvSpPr>
          <p:cNvPr id="62" name="Shape 62"/>
          <p:cNvSpPr/>
          <p:nvPr/>
        </p:nvSpPr>
        <p:spPr>
          <a:xfrm>
            <a:off x="502920" y="5300000"/>
            <a:ext cx="11185855" cy="460000"/>
          </a:xfrm>
          <a:prstGeom prst="rect">
            <a:avLst/>
          </a:prstGeom>
          <a:solidFill>
            <a:srgbClr val="DEFAEA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63" name="Text 63"/>
          <p:cNvSpPr/>
          <p:nvPr/>
        </p:nvSpPr>
        <p:spPr>
          <a:xfrm>
            <a:off x="640080" y="5300000"/>
            <a:ext cx="701779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TOTAL</a:t>
            </a:r>
          </a:p>
        </p:txBody>
      </p:sp>
      <p:sp>
        <p:nvSpPr>
          <p:cNvPr id="64" name="Text 64"/>
          <p:cNvSpPr/>
          <p:nvPr/>
        </p:nvSpPr>
        <p:spPr>
          <a:xfrm>
            <a:off x="1479019" y="5300000"/>
            <a:ext cx="260337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Annual Commercial Revenue</a:t>
            </a:r>
          </a:p>
        </p:txBody>
      </p:sp>
      <p:sp>
        <p:nvSpPr>
          <p:cNvPr id="65" name="Text 65"/>
          <p:cNvSpPr/>
          <p:nvPr/>
        </p:nvSpPr>
        <p:spPr>
          <a:xfrm>
            <a:off x="4219553" y="5300000"/>
            <a:ext cx="1820364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Multi-Stream Combined</a:t>
            </a:r>
          </a:p>
        </p:txBody>
      </p:sp>
      <p:sp>
        <p:nvSpPr>
          <p:cNvPr id="66" name="Text 66"/>
          <p:cNvSpPr/>
          <p:nvPr/>
        </p:nvSpPr>
        <p:spPr>
          <a:xfrm>
            <a:off x="6177077" y="530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€45,000</a:t>
            </a:r>
          </a:p>
        </p:txBody>
      </p:sp>
      <p:sp>
        <p:nvSpPr>
          <p:cNvPr id="67" name="Text 67"/>
          <p:cNvSpPr/>
          <p:nvPr/>
        </p:nvSpPr>
        <p:spPr>
          <a:xfrm>
            <a:off x="7463450" y="5300000"/>
            <a:ext cx="1149213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€68,880</a:t>
            </a:r>
          </a:p>
        </p:txBody>
      </p:sp>
      <p:sp>
        <p:nvSpPr>
          <p:cNvPr id="68" name="Text 68"/>
          <p:cNvSpPr/>
          <p:nvPr/>
        </p:nvSpPr>
        <p:spPr>
          <a:xfrm>
            <a:off x="8749823" y="5300000"/>
            <a:ext cx="126107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7A46"/>
                </a:solidFill>
                <a:latin typeface="Georgia"/>
                <a:ea typeface="Calibri"/>
                <a:cs typeface="Calibri"/>
              </a:rPr>
              <a:t>€688,620</a:t>
            </a:r>
          </a:p>
        </p:txBody>
      </p:sp>
      <p:sp>
        <p:nvSpPr>
          <p:cNvPr id="69" name="Text 69"/>
          <p:cNvSpPr/>
          <p:nvPr/>
        </p:nvSpPr>
        <p:spPr>
          <a:xfrm>
            <a:off x="10148054" y="5300000"/>
            <a:ext cx="1540721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85.13% margin</a:t>
            </a:r>
          </a:p>
        </p:txBody>
      </p:sp>
      <p:sp>
        <p:nvSpPr>
          <p:cNvPr id="70" name="Text 70"/>
          <p:cNvSpPr/>
          <p:nvPr/>
        </p:nvSpPr>
        <p:spPr>
          <a:xfrm>
            <a:off x="502920" y="5820000"/>
            <a:ext cx="11185855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TOTAL row reflects combined B2G (R.1–R.3) and volumetric/ESG (R.4–R.6) revenue at Year 3 commercial scale, per the locked model.</a:t>
            </a:r>
          </a:p>
        </p:txBody>
      </p:sp>
      <p:sp>
        <p:nvSpPr>
          <p:cNvPr id="71" name="Text 71"/>
          <p:cNvSpPr/>
          <p:nvPr/>
        </p:nvSpPr>
        <p:spPr>
          <a:xfrm>
            <a:off x="502920" y="6583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REVENUE STREAM MATRIX</a:t>
            </a:r>
          </a:p>
        </p:txBody>
      </p:sp>
      <p:sp>
        <p:nvSpPr>
          <p:cNvPr id="72" name="Text 7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 B - Competitive Moat Matrix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EFAEA"/>
            </a:gs>
            <a:gs pos="64000">
              <a:srgbClr val="42D180"/>
            </a:gs>
            <a:gs pos="100000">
              <a:srgbClr val="072C1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9B55"/>
                </a:solidFill>
                <a:latin typeface="Georgia"/>
                <a:ea typeface="Calibri"/>
                <a:cs typeface="Calibri"/>
              </a:rPr>
              <a:t>APPENDIX B — COMPETITIVE MOAT</a:t>
            </a:r>
          </a:p>
        </p:txBody>
      </p:sp>
      <p:sp>
        <p:nvSpPr>
          <p:cNvPr id="4" name="Text 4"/>
          <p:cNvSpPr/>
          <p:nvPr/>
        </p:nvSpPr>
        <p:spPr>
          <a:xfrm>
            <a:off x="502920" y="836676"/>
            <a:ext cx="1050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Why Hasn't Anybody Done This?</a:t>
            </a:r>
          </a:p>
        </p:txBody>
      </p:sp>
      <p:sp>
        <p:nvSpPr>
          <p:cNvPr id="5" name="Text 5"/>
          <p:cNvSpPr/>
          <p:nvPr/>
        </p:nvSpPr>
        <p:spPr>
          <a:xfrm>
            <a:off x="502920" y="1531240"/>
            <a:ext cx="10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Misaligned incentives, invasive architecture, civil-infrastructure traps and fragmented ecosystems have left this gap open.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2140000"/>
            <a:ext cx="11185855" cy="400000"/>
          </a:xfrm>
          <a:prstGeom prst="rect">
            <a:avLst/>
          </a:prstGeom>
          <a:solidFill>
            <a:srgbClr val="072C19"/>
          </a:solidFill>
          <a:ln/>
        </p:spPr>
      </p:sp>
      <p:sp>
        <p:nvSpPr>
          <p:cNvPr id="7" name="Text 7"/>
          <p:cNvSpPr/>
          <p:nvPr/>
        </p:nvSpPr>
        <p:spPr>
          <a:xfrm>
            <a:off x="640080" y="2140000"/>
            <a:ext cx="1876293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PROVIDER CATEGORY</a:t>
            </a:r>
          </a:p>
        </p:txBody>
      </p:sp>
      <p:sp>
        <p:nvSpPr>
          <p:cNvPr id="8" name="Text 8"/>
          <p:cNvSpPr/>
          <p:nvPr/>
        </p:nvSpPr>
        <p:spPr>
          <a:xfrm>
            <a:off x="2653533" y="2140000"/>
            <a:ext cx="28830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LEGACY FLAW &amp; INCENTIVE</a:t>
            </a:r>
          </a:p>
        </p:txBody>
      </p:sp>
      <p:sp>
        <p:nvSpPr>
          <p:cNvPr id="9" name="Text 9"/>
          <p:cNvSpPr/>
          <p:nvPr/>
        </p:nvSpPr>
        <p:spPr>
          <a:xfrm>
            <a:off x="5673713" y="2140000"/>
            <a:ext cx="28830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WHY THEY CANNOT SCALE</a:t>
            </a:r>
          </a:p>
        </p:txBody>
      </p:sp>
      <p:sp>
        <p:nvSpPr>
          <p:cNvPr id="10" name="Text 10"/>
          <p:cNvSpPr/>
          <p:nvPr/>
        </p:nvSpPr>
        <p:spPr>
          <a:xfrm>
            <a:off x="8693893" y="2140000"/>
            <a:ext cx="299488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CE9B4"/>
                </a:solidFill>
                <a:latin typeface="Georgia"/>
                <a:ea typeface="Calibri"/>
                <a:cs typeface="Calibri"/>
              </a:rPr>
              <a:t>OUR DIGITAL TWIN SOLUTION</a:t>
            </a:r>
          </a:p>
        </p:txBody>
      </p:sp>
      <p:sp>
        <p:nvSpPr>
          <p:cNvPr id="11" name="Shape 11"/>
          <p:cNvSpPr/>
          <p:nvPr/>
        </p:nvSpPr>
        <p:spPr>
          <a:xfrm>
            <a:off x="502920" y="2540000"/>
            <a:ext cx="11185855" cy="92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640080" y="2540000"/>
            <a:ext cx="1876293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Hardware Infrastructure Giants</a:t>
            </a:r>
            <a:br>
              <a:rPr lang="en-US" sz="900"/>
            </a:b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(Kapsch, Vitronic, Siemens, TransCore)</a:t>
            </a:r>
          </a:p>
        </p:txBody>
      </p:sp>
      <p:sp>
        <p:nvSpPr>
          <p:cNvPr id="13" name="Text 13"/>
          <p:cNvSpPr/>
          <p:nvPr/>
        </p:nvSpPr>
        <p:spPr>
          <a:xfrm>
            <a:off x="2653533" y="254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Profit by selling expensive physical gantries and civil works.</a:t>
            </a:r>
          </a:p>
        </p:txBody>
      </p:sp>
      <p:sp>
        <p:nvSpPr>
          <p:cNvPr id="14" name="Text 14"/>
          <p:cNvSpPr/>
          <p:nvPr/>
        </p:nvSpPr>
        <p:spPr>
          <a:xfrm>
            <a:off x="5673713" y="254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Closed proprietary hardware; long 5–10 year public procurement cycles.</a:t>
            </a:r>
          </a:p>
        </p:txBody>
      </p:sp>
      <p:sp>
        <p:nvSpPr>
          <p:cNvPr id="15" name="Text 15"/>
          <p:cNvSpPr/>
          <p:nvPr/>
        </p:nvSpPr>
        <p:spPr>
          <a:xfrm>
            <a:off x="8693893" y="2540000"/>
            <a:ext cx="2994882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Hardware-Agnostic Middleware: integrates existing sensors with €0 civil CapEx.</a:t>
            </a:r>
          </a:p>
        </p:txBody>
      </p:sp>
      <p:sp>
        <p:nvSpPr>
          <p:cNvPr id="16" name="Shape 16"/>
          <p:cNvSpPr/>
          <p:nvPr/>
        </p:nvSpPr>
        <p:spPr>
          <a:xfrm>
            <a:off x="502920" y="3460000"/>
            <a:ext cx="11185855" cy="9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640080" y="3460000"/>
            <a:ext cx="1876293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Enterprise &amp; Customs Software Vendors</a:t>
            </a:r>
            <a:br>
              <a:rPr lang="en-US" sz="900"/>
            </a:b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(SITA, Leidos, SAP, Conduent)</a:t>
            </a:r>
          </a:p>
        </p:txBody>
      </p:sp>
      <p:sp>
        <p:nvSpPr>
          <p:cNvPr id="18" name="Text 18"/>
          <p:cNvSpPr/>
          <p:nvPr/>
        </p:nvSpPr>
        <p:spPr>
          <a:xfrm>
            <a:off x="2653533" y="346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Propose monolithic, invasive database replacements.</a:t>
            </a:r>
          </a:p>
        </p:txBody>
      </p:sp>
      <p:sp>
        <p:nvSpPr>
          <p:cNvPr id="19" name="Text 19"/>
          <p:cNvSpPr/>
          <p:nvPr/>
        </p:nvSpPr>
        <p:spPr>
          <a:xfrm>
            <a:off x="5673713" y="346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Sovereign states reject external software writing to national security databases.</a:t>
            </a:r>
          </a:p>
        </p:txBody>
      </p:sp>
      <p:sp>
        <p:nvSpPr>
          <p:cNvPr id="20" name="Text 20"/>
          <p:cNvSpPr/>
          <p:nvPr/>
        </p:nvSpPr>
        <p:spPr>
          <a:xfrm>
            <a:off x="8693893" y="3460000"/>
            <a:ext cx="2994882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Stateless Read-Only MCP Server: processes sub-500ms telemetry safely in shadow mode.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4380000"/>
            <a:ext cx="11185855" cy="920000"/>
          </a:xfrm>
          <a:prstGeom prst="rect">
            <a:avLst/>
          </a:prstGeom>
          <a:solidFill>
            <a:srgbClr val="F1FCF5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640080" y="4380000"/>
            <a:ext cx="1876293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Fleet Telematics &amp; GPS Platforms</a:t>
            </a:r>
            <a:br>
              <a:rPr lang="en-US" sz="900"/>
            </a:b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(Samsara, Geotab, Transporeon)</a:t>
            </a:r>
          </a:p>
        </p:txBody>
      </p:sp>
      <p:sp>
        <p:nvSpPr>
          <p:cNvPr id="23" name="Text 23"/>
          <p:cNvSpPr/>
          <p:nvPr/>
        </p:nvSpPr>
        <p:spPr>
          <a:xfrm>
            <a:off x="2653533" y="438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Focus only on commercial fleet dispatch.</a:t>
            </a:r>
          </a:p>
        </p:txBody>
      </p:sp>
      <p:sp>
        <p:nvSpPr>
          <p:cNvPr id="24" name="Text 24"/>
          <p:cNvSpPr/>
          <p:nvPr/>
        </p:nvSpPr>
        <p:spPr>
          <a:xfrm>
            <a:off x="5673713" y="438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No sovereign customs integration or border officer trust.</a:t>
            </a:r>
          </a:p>
        </p:txBody>
      </p:sp>
      <p:sp>
        <p:nvSpPr>
          <p:cNvPr id="25" name="Text 25"/>
          <p:cNvSpPr/>
          <p:nvPr/>
        </p:nvSpPr>
        <p:spPr>
          <a:xfrm>
            <a:off x="8693893" y="4380000"/>
            <a:ext cx="2994882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Multi-Tenant SCADA Viewport: connects pre-auth fleet data with officer override controls.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" y="5300000"/>
            <a:ext cx="11185855" cy="9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3E8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640080" y="5300000"/>
            <a:ext cx="1876293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Carbon &amp; ESG Software Platforms</a:t>
            </a:r>
            <a:br>
              <a:rPr lang="en-US" sz="900"/>
            </a:br>
            <a:r>
              <a:rPr lang="en-US" sz="900" b="1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(Sweep, Watershed)</a:t>
            </a:r>
          </a:p>
        </p:txBody>
      </p:sp>
      <p:sp>
        <p:nvSpPr>
          <p:cNvPr id="28" name="Text 28"/>
          <p:cNvSpPr/>
          <p:nvPr/>
        </p:nvSpPr>
        <p:spPr>
          <a:xfrm>
            <a:off x="2653533" y="530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Retroactive spreadsheet calculations months later.</a:t>
            </a:r>
          </a:p>
        </p:txBody>
      </p:sp>
      <p:sp>
        <p:nvSpPr>
          <p:cNvPr id="29" name="Text 29"/>
          <p:cNvSpPr/>
          <p:nvPr/>
        </p:nvSpPr>
        <p:spPr>
          <a:xfrm>
            <a:off x="5673713" y="5300000"/>
            <a:ext cx="28830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No connection to physical infrastructure or real-time operational routing.</a:t>
            </a:r>
          </a:p>
        </p:txBody>
      </p:sp>
      <p:sp>
        <p:nvSpPr>
          <p:cNvPr id="30" name="Text 30"/>
          <p:cNvSpPr/>
          <p:nvPr/>
        </p:nvSpPr>
        <p:spPr>
          <a:xfrm>
            <a:off x="8693893" y="5300000"/>
            <a:ext cx="2994882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0201A"/>
                </a:solidFill>
                <a:latin typeface="Georgia"/>
                <a:ea typeface="Calibri"/>
                <a:cs typeface="Calibri"/>
              </a:rPr>
              <a:t>Embedded Real-Time Chemistry: converts gate seconds saved directly into R.5/R.6 carbon credits.</a:t>
            </a:r>
          </a:p>
        </p:txBody>
      </p:sp>
      <p:sp>
        <p:nvSpPr>
          <p:cNvPr id="31" name="Text 31"/>
          <p:cNvSpPr/>
          <p:nvPr/>
        </p:nvSpPr>
        <p:spPr>
          <a:xfrm>
            <a:off x="502920" y="6583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COMPETITIVE MOAT MATRIX</a:t>
            </a:r>
          </a:p>
        </p:txBody>
      </p:sp>
      <p:sp>
        <p:nvSpPr>
          <p:cNvPr id="32" name="Text 3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7566"/>
                </a:solidFill>
                <a:latin typeface="Georgia"/>
                <a:ea typeface="Calibri"/>
                <a:cs typeface="Calibri"/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22000">
              <a:srgbClr val="42D180"/>
            </a:gs>
            <a:gs pos="84000">
              <a:srgbClr val="072C19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-2" y="241681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340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-1" y="328549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BFF3D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Universal Logistics Edge Infrastructure Solution — Module 1</a:t>
            </a: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>
                <a:solidFill>
                  <a:srgbClr val="1B7A4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1400">
              <a:solidFill>
                <a:srgbClr val="1B7A46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3388</Words>
  <Application>Microsoft Office PowerPoint</Application>
  <PresentationFormat>Widescreen</PresentationFormat>
  <Paragraphs>593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Bahnschrift SemiBold</vt:lpstr>
      <vt:lpstr>Calibri</vt:lpstr>
      <vt:lpstr>Consolas</vt:lpstr>
      <vt:lpstr>Georgia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neli x</cp:lastModifiedBy>
  <cp:revision>115</cp:revision>
  <dcterms:created xsi:type="dcterms:W3CDTF">2026-08-09T12:10:56Z</dcterms:created>
  <dcterms:modified xsi:type="dcterms:W3CDTF">2026-09-09T15:11:37Z</dcterms:modified>
</cp:coreProperties>
</file>